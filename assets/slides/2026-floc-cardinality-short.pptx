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5"/>
  </p:normalViewPr>
  <p:slideViewPr>
    <p:cSldViewPr snapToGrid="0">
      <p:cViewPr>
        <p:scale>
          <a:sx n="115" d="100"/>
          <a:sy n="115" d="100"/>
        </p:scale>
        <p:origin x="66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61A2C-F1C7-D04D-884F-1923D1456FE8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33084-702F-3544-BB77-2EDD9E601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5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3084-702F-3544-BB77-2EDD9E6018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9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5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8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5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4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83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09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8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6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3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76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27C47-4048-454C-BA0A-AAC237490873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3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ircle Limit III by M.C. Escher">
            <a:extLst>
              <a:ext uri="{FF2B5EF4-FFF2-40B4-BE49-F238E27FC236}">
                <a16:creationId xmlns:a16="http://schemas.microsoft.com/office/drawing/2014/main" id="{A7DA3044-893F-9FD4-EB36-64191A1DA3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3000"/>
          </a:blip>
          <a:srcRect t="18458" b="20566"/>
          <a:stretch>
            <a:fillRect/>
          </a:stretch>
        </p:blipFill>
        <p:spPr>
          <a:xfrm>
            <a:off x="0" y="1"/>
            <a:ext cx="12191980" cy="68579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4318E3C-CFEB-52D5-BD72-2B570FBAC134}"/>
              </a:ext>
            </a:extLst>
          </p:cNvPr>
          <p:cNvSpPr/>
          <p:nvPr/>
        </p:nvSpPr>
        <p:spPr>
          <a:xfrm>
            <a:off x="478476" y="1106392"/>
            <a:ext cx="11332029" cy="2558143"/>
          </a:xfrm>
          <a:custGeom>
            <a:avLst/>
            <a:gdLst>
              <a:gd name="csX0" fmla="*/ 0 w 11332029"/>
              <a:gd name="csY0" fmla="*/ 0 h 2558143"/>
              <a:gd name="csX1" fmla="*/ 823063 w 11332029"/>
              <a:gd name="csY1" fmla="*/ 0 h 2558143"/>
              <a:gd name="csX2" fmla="*/ 1532806 w 11332029"/>
              <a:gd name="csY2" fmla="*/ 0 h 2558143"/>
              <a:gd name="csX3" fmla="*/ 2355869 w 11332029"/>
              <a:gd name="csY3" fmla="*/ 0 h 2558143"/>
              <a:gd name="csX4" fmla="*/ 2952292 w 11332029"/>
              <a:gd name="csY4" fmla="*/ 0 h 2558143"/>
              <a:gd name="csX5" fmla="*/ 3662035 w 11332029"/>
              <a:gd name="csY5" fmla="*/ 0 h 2558143"/>
              <a:gd name="csX6" fmla="*/ 4258457 w 11332029"/>
              <a:gd name="csY6" fmla="*/ 0 h 2558143"/>
              <a:gd name="csX7" fmla="*/ 4854880 w 11332029"/>
              <a:gd name="csY7" fmla="*/ 0 h 2558143"/>
              <a:gd name="csX8" fmla="*/ 5451302 w 11332029"/>
              <a:gd name="csY8" fmla="*/ 0 h 2558143"/>
              <a:gd name="csX9" fmla="*/ 5707764 w 11332029"/>
              <a:gd name="csY9" fmla="*/ 0 h 2558143"/>
              <a:gd name="csX10" fmla="*/ 6417507 w 11332029"/>
              <a:gd name="csY10" fmla="*/ 0 h 2558143"/>
              <a:gd name="csX11" fmla="*/ 6673969 w 11332029"/>
              <a:gd name="csY11" fmla="*/ 0 h 2558143"/>
              <a:gd name="csX12" fmla="*/ 7270391 w 11332029"/>
              <a:gd name="csY12" fmla="*/ 0 h 2558143"/>
              <a:gd name="csX13" fmla="*/ 8093454 w 11332029"/>
              <a:gd name="csY13" fmla="*/ 0 h 2558143"/>
              <a:gd name="csX14" fmla="*/ 8916518 w 11332029"/>
              <a:gd name="csY14" fmla="*/ 0 h 2558143"/>
              <a:gd name="csX15" fmla="*/ 9626260 w 11332029"/>
              <a:gd name="csY15" fmla="*/ 0 h 2558143"/>
              <a:gd name="csX16" fmla="*/ 10109363 w 11332029"/>
              <a:gd name="csY16" fmla="*/ 0 h 2558143"/>
              <a:gd name="csX17" fmla="*/ 10365824 w 11332029"/>
              <a:gd name="csY17" fmla="*/ 0 h 2558143"/>
              <a:gd name="csX18" fmla="*/ 11332029 w 11332029"/>
              <a:gd name="csY18" fmla="*/ 0 h 2558143"/>
              <a:gd name="csX19" fmla="*/ 11332029 w 11332029"/>
              <a:gd name="csY19" fmla="*/ 537210 h 2558143"/>
              <a:gd name="csX20" fmla="*/ 11332029 w 11332029"/>
              <a:gd name="csY20" fmla="*/ 1023257 h 2558143"/>
              <a:gd name="csX21" fmla="*/ 11332029 w 11332029"/>
              <a:gd name="csY21" fmla="*/ 1586049 h 2558143"/>
              <a:gd name="csX22" fmla="*/ 11332029 w 11332029"/>
              <a:gd name="csY22" fmla="*/ 2046514 h 2558143"/>
              <a:gd name="csX23" fmla="*/ 11332029 w 11332029"/>
              <a:gd name="csY23" fmla="*/ 2558143 h 2558143"/>
              <a:gd name="csX24" fmla="*/ 10962247 w 11332029"/>
              <a:gd name="csY24" fmla="*/ 2558143 h 2558143"/>
              <a:gd name="csX25" fmla="*/ 10705785 w 11332029"/>
              <a:gd name="csY25" fmla="*/ 2558143 h 2558143"/>
              <a:gd name="csX26" fmla="*/ 9882722 w 11332029"/>
              <a:gd name="csY26" fmla="*/ 2558143 h 2558143"/>
              <a:gd name="csX27" fmla="*/ 9399620 w 11332029"/>
              <a:gd name="csY27" fmla="*/ 2558143 h 2558143"/>
              <a:gd name="csX28" fmla="*/ 8689877 w 11332029"/>
              <a:gd name="csY28" fmla="*/ 2558143 h 2558143"/>
              <a:gd name="csX29" fmla="*/ 8433415 w 11332029"/>
              <a:gd name="csY29" fmla="*/ 2558143 h 2558143"/>
              <a:gd name="csX30" fmla="*/ 7610352 w 11332029"/>
              <a:gd name="csY30" fmla="*/ 2558143 h 2558143"/>
              <a:gd name="csX31" fmla="*/ 7127250 w 11332029"/>
              <a:gd name="csY31" fmla="*/ 2558143 h 2558143"/>
              <a:gd name="csX32" fmla="*/ 6530827 w 11332029"/>
              <a:gd name="csY32" fmla="*/ 2558143 h 2558143"/>
              <a:gd name="csX33" fmla="*/ 6161045 w 11332029"/>
              <a:gd name="csY33" fmla="*/ 2558143 h 2558143"/>
              <a:gd name="csX34" fmla="*/ 5451302 w 11332029"/>
              <a:gd name="csY34" fmla="*/ 2558143 h 2558143"/>
              <a:gd name="csX35" fmla="*/ 4628239 w 11332029"/>
              <a:gd name="csY35" fmla="*/ 2558143 h 2558143"/>
              <a:gd name="csX36" fmla="*/ 4145137 w 11332029"/>
              <a:gd name="csY36" fmla="*/ 2558143 h 2558143"/>
              <a:gd name="csX37" fmla="*/ 3322074 w 11332029"/>
              <a:gd name="csY37" fmla="*/ 2558143 h 2558143"/>
              <a:gd name="csX38" fmla="*/ 2725651 w 11332029"/>
              <a:gd name="csY38" fmla="*/ 2558143 h 2558143"/>
              <a:gd name="csX39" fmla="*/ 1902588 w 11332029"/>
              <a:gd name="csY39" fmla="*/ 2558143 h 2558143"/>
              <a:gd name="csX40" fmla="*/ 1079525 w 11332029"/>
              <a:gd name="csY40" fmla="*/ 2558143 h 2558143"/>
              <a:gd name="csX41" fmla="*/ 709743 w 11332029"/>
              <a:gd name="csY41" fmla="*/ 2558143 h 2558143"/>
              <a:gd name="csX42" fmla="*/ 0 w 11332029"/>
              <a:gd name="csY42" fmla="*/ 2558143 h 2558143"/>
              <a:gd name="csX43" fmla="*/ 0 w 11332029"/>
              <a:gd name="csY43" fmla="*/ 2046514 h 2558143"/>
              <a:gd name="csX44" fmla="*/ 0 w 11332029"/>
              <a:gd name="csY44" fmla="*/ 1483723 h 2558143"/>
              <a:gd name="csX45" fmla="*/ 0 w 11332029"/>
              <a:gd name="csY45" fmla="*/ 1048839 h 2558143"/>
              <a:gd name="csX46" fmla="*/ 0 w 11332029"/>
              <a:gd name="csY46" fmla="*/ 613954 h 2558143"/>
              <a:gd name="csX47" fmla="*/ 0 w 11332029"/>
              <a:gd name="csY47" fmla="*/ 0 h 2558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</a:cxnLst>
            <a:rect l="l" t="t" r="r" b="b"/>
            <a:pathLst>
              <a:path w="11332029" h="2558143" fill="none" extrusionOk="0">
                <a:moveTo>
                  <a:pt x="0" y="0"/>
                </a:moveTo>
                <a:cubicBezTo>
                  <a:pt x="182583" y="-91799"/>
                  <a:pt x="462719" y="75828"/>
                  <a:pt x="823063" y="0"/>
                </a:cubicBezTo>
                <a:cubicBezTo>
                  <a:pt x="1183407" y="-75828"/>
                  <a:pt x="1317569" y="65063"/>
                  <a:pt x="1532806" y="0"/>
                </a:cubicBezTo>
                <a:cubicBezTo>
                  <a:pt x="1748043" y="-65063"/>
                  <a:pt x="1960156" y="29868"/>
                  <a:pt x="2355869" y="0"/>
                </a:cubicBezTo>
                <a:cubicBezTo>
                  <a:pt x="2751582" y="-29868"/>
                  <a:pt x="2701370" y="6882"/>
                  <a:pt x="2952292" y="0"/>
                </a:cubicBezTo>
                <a:cubicBezTo>
                  <a:pt x="3203214" y="-6882"/>
                  <a:pt x="3396504" y="33271"/>
                  <a:pt x="3662035" y="0"/>
                </a:cubicBezTo>
                <a:cubicBezTo>
                  <a:pt x="3927566" y="-33271"/>
                  <a:pt x="4128336" y="44967"/>
                  <a:pt x="4258457" y="0"/>
                </a:cubicBezTo>
                <a:cubicBezTo>
                  <a:pt x="4388578" y="-44967"/>
                  <a:pt x="4716981" y="26735"/>
                  <a:pt x="4854880" y="0"/>
                </a:cubicBezTo>
                <a:cubicBezTo>
                  <a:pt x="4992779" y="-26735"/>
                  <a:pt x="5279990" y="35712"/>
                  <a:pt x="5451302" y="0"/>
                </a:cubicBezTo>
                <a:cubicBezTo>
                  <a:pt x="5622614" y="-35712"/>
                  <a:pt x="5636684" y="3945"/>
                  <a:pt x="5707764" y="0"/>
                </a:cubicBezTo>
                <a:cubicBezTo>
                  <a:pt x="5778844" y="-3945"/>
                  <a:pt x="6161282" y="7645"/>
                  <a:pt x="6417507" y="0"/>
                </a:cubicBezTo>
                <a:cubicBezTo>
                  <a:pt x="6673732" y="-7645"/>
                  <a:pt x="6552202" y="29946"/>
                  <a:pt x="6673969" y="0"/>
                </a:cubicBezTo>
                <a:cubicBezTo>
                  <a:pt x="6795736" y="-29946"/>
                  <a:pt x="7136498" y="31688"/>
                  <a:pt x="7270391" y="0"/>
                </a:cubicBezTo>
                <a:cubicBezTo>
                  <a:pt x="7404284" y="-31688"/>
                  <a:pt x="7908413" y="87830"/>
                  <a:pt x="8093454" y="0"/>
                </a:cubicBezTo>
                <a:cubicBezTo>
                  <a:pt x="8278495" y="-87830"/>
                  <a:pt x="8731162" y="92914"/>
                  <a:pt x="8916518" y="0"/>
                </a:cubicBezTo>
                <a:cubicBezTo>
                  <a:pt x="9101874" y="-92914"/>
                  <a:pt x="9376694" y="71185"/>
                  <a:pt x="9626260" y="0"/>
                </a:cubicBezTo>
                <a:cubicBezTo>
                  <a:pt x="9875826" y="-71185"/>
                  <a:pt x="9965148" y="10606"/>
                  <a:pt x="10109363" y="0"/>
                </a:cubicBezTo>
                <a:cubicBezTo>
                  <a:pt x="10253578" y="-10606"/>
                  <a:pt x="10263202" y="16832"/>
                  <a:pt x="10365824" y="0"/>
                </a:cubicBezTo>
                <a:cubicBezTo>
                  <a:pt x="10468446" y="-16832"/>
                  <a:pt x="10918817" y="43112"/>
                  <a:pt x="11332029" y="0"/>
                </a:cubicBezTo>
                <a:cubicBezTo>
                  <a:pt x="11352781" y="110869"/>
                  <a:pt x="11321510" y="280240"/>
                  <a:pt x="11332029" y="537210"/>
                </a:cubicBezTo>
                <a:cubicBezTo>
                  <a:pt x="11342548" y="794180"/>
                  <a:pt x="11316064" y="881725"/>
                  <a:pt x="11332029" y="1023257"/>
                </a:cubicBezTo>
                <a:cubicBezTo>
                  <a:pt x="11347994" y="1164789"/>
                  <a:pt x="11285258" y="1323884"/>
                  <a:pt x="11332029" y="1586049"/>
                </a:cubicBezTo>
                <a:cubicBezTo>
                  <a:pt x="11378800" y="1848214"/>
                  <a:pt x="11315194" y="1869258"/>
                  <a:pt x="11332029" y="2046514"/>
                </a:cubicBezTo>
                <a:cubicBezTo>
                  <a:pt x="11348864" y="2223771"/>
                  <a:pt x="11273215" y="2381382"/>
                  <a:pt x="11332029" y="2558143"/>
                </a:cubicBezTo>
                <a:cubicBezTo>
                  <a:pt x="11180306" y="2558371"/>
                  <a:pt x="11072384" y="2552368"/>
                  <a:pt x="10962247" y="2558143"/>
                </a:cubicBezTo>
                <a:cubicBezTo>
                  <a:pt x="10852110" y="2563918"/>
                  <a:pt x="10770278" y="2546020"/>
                  <a:pt x="10705785" y="2558143"/>
                </a:cubicBezTo>
                <a:cubicBezTo>
                  <a:pt x="10641292" y="2570266"/>
                  <a:pt x="10183157" y="2482499"/>
                  <a:pt x="9882722" y="2558143"/>
                </a:cubicBezTo>
                <a:cubicBezTo>
                  <a:pt x="9582287" y="2633787"/>
                  <a:pt x="9579554" y="2544720"/>
                  <a:pt x="9399620" y="2558143"/>
                </a:cubicBezTo>
                <a:cubicBezTo>
                  <a:pt x="9219686" y="2571566"/>
                  <a:pt x="8877797" y="2518817"/>
                  <a:pt x="8689877" y="2558143"/>
                </a:cubicBezTo>
                <a:cubicBezTo>
                  <a:pt x="8501957" y="2597469"/>
                  <a:pt x="8490130" y="2553123"/>
                  <a:pt x="8433415" y="2558143"/>
                </a:cubicBezTo>
                <a:cubicBezTo>
                  <a:pt x="8376700" y="2563163"/>
                  <a:pt x="8019769" y="2535817"/>
                  <a:pt x="7610352" y="2558143"/>
                </a:cubicBezTo>
                <a:cubicBezTo>
                  <a:pt x="7200935" y="2580469"/>
                  <a:pt x="7251362" y="2508651"/>
                  <a:pt x="7127250" y="2558143"/>
                </a:cubicBezTo>
                <a:cubicBezTo>
                  <a:pt x="7003138" y="2607635"/>
                  <a:pt x="6708190" y="2500051"/>
                  <a:pt x="6530827" y="2558143"/>
                </a:cubicBezTo>
                <a:cubicBezTo>
                  <a:pt x="6353464" y="2616235"/>
                  <a:pt x="6311756" y="2517035"/>
                  <a:pt x="6161045" y="2558143"/>
                </a:cubicBezTo>
                <a:cubicBezTo>
                  <a:pt x="6010334" y="2599251"/>
                  <a:pt x="5675817" y="2551631"/>
                  <a:pt x="5451302" y="2558143"/>
                </a:cubicBezTo>
                <a:cubicBezTo>
                  <a:pt x="5226787" y="2564655"/>
                  <a:pt x="4830520" y="2512635"/>
                  <a:pt x="4628239" y="2558143"/>
                </a:cubicBezTo>
                <a:cubicBezTo>
                  <a:pt x="4425958" y="2603651"/>
                  <a:pt x="4292003" y="2516461"/>
                  <a:pt x="4145137" y="2558143"/>
                </a:cubicBezTo>
                <a:cubicBezTo>
                  <a:pt x="3998271" y="2599825"/>
                  <a:pt x="3592378" y="2523926"/>
                  <a:pt x="3322074" y="2558143"/>
                </a:cubicBezTo>
                <a:cubicBezTo>
                  <a:pt x="3051770" y="2592360"/>
                  <a:pt x="2991225" y="2491536"/>
                  <a:pt x="2725651" y="2558143"/>
                </a:cubicBezTo>
                <a:cubicBezTo>
                  <a:pt x="2460077" y="2624750"/>
                  <a:pt x="2093628" y="2468113"/>
                  <a:pt x="1902588" y="2558143"/>
                </a:cubicBezTo>
                <a:cubicBezTo>
                  <a:pt x="1711548" y="2648173"/>
                  <a:pt x="1269271" y="2534472"/>
                  <a:pt x="1079525" y="2558143"/>
                </a:cubicBezTo>
                <a:cubicBezTo>
                  <a:pt x="889779" y="2581814"/>
                  <a:pt x="878940" y="2530636"/>
                  <a:pt x="709743" y="2558143"/>
                </a:cubicBezTo>
                <a:cubicBezTo>
                  <a:pt x="540546" y="2585650"/>
                  <a:pt x="240263" y="2508587"/>
                  <a:pt x="0" y="2558143"/>
                </a:cubicBezTo>
                <a:cubicBezTo>
                  <a:pt x="-14201" y="2350198"/>
                  <a:pt x="49662" y="2258248"/>
                  <a:pt x="0" y="2046514"/>
                </a:cubicBezTo>
                <a:cubicBezTo>
                  <a:pt x="-49662" y="1834780"/>
                  <a:pt x="67258" y="1764011"/>
                  <a:pt x="0" y="1483723"/>
                </a:cubicBezTo>
                <a:cubicBezTo>
                  <a:pt x="-67258" y="1203435"/>
                  <a:pt x="45171" y="1250357"/>
                  <a:pt x="0" y="1048839"/>
                </a:cubicBezTo>
                <a:cubicBezTo>
                  <a:pt x="-45171" y="847321"/>
                  <a:pt x="50934" y="708637"/>
                  <a:pt x="0" y="613954"/>
                </a:cubicBezTo>
                <a:cubicBezTo>
                  <a:pt x="-50934" y="519272"/>
                  <a:pt x="23050" y="126984"/>
                  <a:pt x="0" y="0"/>
                </a:cubicBezTo>
                <a:close/>
              </a:path>
              <a:path w="11332029" h="2558143" stroke="0" extrusionOk="0">
                <a:moveTo>
                  <a:pt x="0" y="0"/>
                </a:moveTo>
                <a:cubicBezTo>
                  <a:pt x="129121" y="-2655"/>
                  <a:pt x="281317" y="34523"/>
                  <a:pt x="483102" y="0"/>
                </a:cubicBezTo>
                <a:cubicBezTo>
                  <a:pt x="684887" y="-34523"/>
                  <a:pt x="633637" y="1801"/>
                  <a:pt x="739564" y="0"/>
                </a:cubicBezTo>
                <a:cubicBezTo>
                  <a:pt x="845491" y="-1801"/>
                  <a:pt x="1210035" y="23081"/>
                  <a:pt x="1562627" y="0"/>
                </a:cubicBezTo>
                <a:cubicBezTo>
                  <a:pt x="1915219" y="-23081"/>
                  <a:pt x="1939681" y="22921"/>
                  <a:pt x="2045729" y="0"/>
                </a:cubicBezTo>
                <a:cubicBezTo>
                  <a:pt x="2151777" y="-22921"/>
                  <a:pt x="2329701" y="10556"/>
                  <a:pt x="2528832" y="0"/>
                </a:cubicBezTo>
                <a:cubicBezTo>
                  <a:pt x="2727963" y="-10556"/>
                  <a:pt x="3078432" y="84713"/>
                  <a:pt x="3351895" y="0"/>
                </a:cubicBezTo>
                <a:cubicBezTo>
                  <a:pt x="3625358" y="-84713"/>
                  <a:pt x="3626677" y="37672"/>
                  <a:pt x="3721677" y="0"/>
                </a:cubicBezTo>
                <a:cubicBezTo>
                  <a:pt x="3816677" y="-37672"/>
                  <a:pt x="4362165" y="42861"/>
                  <a:pt x="4544740" y="0"/>
                </a:cubicBezTo>
                <a:cubicBezTo>
                  <a:pt x="4727315" y="-42861"/>
                  <a:pt x="5159509" y="90600"/>
                  <a:pt x="5367803" y="0"/>
                </a:cubicBezTo>
                <a:cubicBezTo>
                  <a:pt x="5576097" y="-90600"/>
                  <a:pt x="5733363" y="67062"/>
                  <a:pt x="5964226" y="0"/>
                </a:cubicBezTo>
                <a:cubicBezTo>
                  <a:pt x="6195089" y="-67062"/>
                  <a:pt x="6529681" y="81751"/>
                  <a:pt x="6787289" y="0"/>
                </a:cubicBezTo>
                <a:cubicBezTo>
                  <a:pt x="7044897" y="-81751"/>
                  <a:pt x="7126603" y="16864"/>
                  <a:pt x="7270391" y="0"/>
                </a:cubicBezTo>
                <a:cubicBezTo>
                  <a:pt x="7414179" y="-16864"/>
                  <a:pt x="7640906" y="44929"/>
                  <a:pt x="7753494" y="0"/>
                </a:cubicBezTo>
                <a:cubicBezTo>
                  <a:pt x="7866082" y="-44929"/>
                  <a:pt x="8138328" y="27124"/>
                  <a:pt x="8463236" y="0"/>
                </a:cubicBezTo>
                <a:cubicBezTo>
                  <a:pt x="8788144" y="-27124"/>
                  <a:pt x="8826711" y="47225"/>
                  <a:pt x="8946339" y="0"/>
                </a:cubicBezTo>
                <a:cubicBezTo>
                  <a:pt x="9065967" y="-47225"/>
                  <a:pt x="9415714" y="71162"/>
                  <a:pt x="9769402" y="0"/>
                </a:cubicBezTo>
                <a:cubicBezTo>
                  <a:pt x="10123090" y="-71162"/>
                  <a:pt x="10349253" y="31449"/>
                  <a:pt x="10592465" y="0"/>
                </a:cubicBezTo>
                <a:cubicBezTo>
                  <a:pt x="10835677" y="-31449"/>
                  <a:pt x="11154801" y="85266"/>
                  <a:pt x="11332029" y="0"/>
                </a:cubicBezTo>
                <a:cubicBezTo>
                  <a:pt x="11339884" y="161079"/>
                  <a:pt x="11324689" y="386755"/>
                  <a:pt x="11332029" y="486047"/>
                </a:cubicBezTo>
                <a:cubicBezTo>
                  <a:pt x="11339369" y="585339"/>
                  <a:pt x="11309669" y="723604"/>
                  <a:pt x="11332029" y="920931"/>
                </a:cubicBezTo>
                <a:cubicBezTo>
                  <a:pt x="11354389" y="1118258"/>
                  <a:pt x="11318963" y="1277173"/>
                  <a:pt x="11332029" y="1381397"/>
                </a:cubicBezTo>
                <a:cubicBezTo>
                  <a:pt x="11345095" y="1485621"/>
                  <a:pt x="11283233" y="1800434"/>
                  <a:pt x="11332029" y="1918607"/>
                </a:cubicBezTo>
                <a:cubicBezTo>
                  <a:pt x="11380825" y="2036780"/>
                  <a:pt x="11282133" y="2395154"/>
                  <a:pt x="11332029" y="2558143"/>
                </a:cubicBezTo>
                <a:cubicBezTo>
                  <a:pt x="11254472" y="2576225"/>
                  <a:pt x="11059170" y="2524509"/>
                  <a:pt x="10962247" y="2558143"/>
                </a:cubicBezTo>
                <a:cubicBezTo>
                  <a:pt x="10865324" y="2591777"/>
                  <a:pt x="10791161" y="2552726"/>
                  <a:pt x="10705785" y="2558143"/>
                </a:cubicBezTo>
                <a:cubicBezTo>
                  <a:pt x="10620409" y="2563560"/>
                  <a:pt x="10518466" y="2556627"/>
                  <a:pt x="10449324" y="2558143"/>
                </a:cubicBezTo>
                <a:cubicBezTo>
                  <a:pt x="10380182" y="2559659"/>
                  <a:pt x="10007864" y="2487502"/>
                  <a:pt x="9852901" y="2558143"/>
                </a:cubicBezTo>
                <a:cubicBezTo>
                  <a:pt x="9697938" y="2628784"/>
                  <a:pt x="9631027" y="2536217"/>
                  <a:pt x="9483119" y="2558143"/>
                </a:cubicBezTo>
                <a:cubicBezTo>
                  <a:pt x="9335211" y="2580069"/>
                  <a:pt x="8970820" y="2484003"/>
                  <a:pt x="8773376" y="2558143"/>
                </a:cubicBezTo>
                <a:cubicBezTo>
                  <a:pt x="8575932" y="2632283"/>
                  <a:pt x="8561205" y="2544972"/>
                  <a:pt x="8403594" y="2558143"/>
                </a:cubicBezTo>
                <a:cubicBezTo>
                  <a:pt x="8245983" y="2571314"/>
                  <a:pt x="8042415" y="2547469"/>
                  <a:pt x="7693851" y="2558143"/>
                </a:cubicBezTo>
                <a:cubicBezTo>
                  <a:pt x="7345287" y="2568817"/>
                  <a:pt x="7533357" y="2555319"/>
                  <a:pt x="7437390" y="2558143"/>
                </a:cubicBezTo>
                <a:cubicBezTo>
                  <a:pt x="7341423" y="2560967"/>
                  <a:pt x="6874748" y="2507754"/>
                  <a:pt x="6727647" y="2558143"/>
                </a:cubicBezTo>
                <a:cubicBezTo>
                  <a:pt x="6580546" y="2608532"/>
                  <a:pt x="6477588" y="2519980"/>
                  <a:pt x="6357865" y="2558143"/>
                </a:cubicBezTo>
                <a:cubicBezTo>
                  <a:pt x="6238142" y="2596306"/>
                  <a:pt x="6200205" y="2537118"/>
                  <a:pt x="6101403" y="2558143"/>
                </a:cubicBezTo>
                <a:cubicBezTo>
                  <a:pt x="6002601" y="2579168"/>
                  <a:pt x="5807630" y="2556735"/>
                  <a:pt x="5731621" y="2558143"/>
                </a:cubicBezTo>
                <a:cubicBezTo>
                  <a:pt x="5655612" y="2559551"/>
                  <a:pt x="5233705" y="2534919"/>
                  <a:pt x="5021878" y="2558143"/>
                </a:cubicBezTo>
                <a:cubicBezTo>
                  <a:pt x="4810051" y="2581367"/>
                  <a:pt x="4772427" y="2540778"/>
                  <a:pt x="4652096" y="2558143"/>
                </a:cubicBezTo>
                <a:cubicBezTo>
                  <a:pt x="4531765" y="2575508"/>
                  <a:pt x="4462519" y="2546836"/>
                  <a:pt x="4395634" y="2558143"/>
                </a:cubicBezTo>
                <a:cubicBezTo>
                  <a:pt x="4328749" y="2569450"/>
                  <a:pt x="4149905" y="2523993"/>
                  <a:pt x="4025852" y="2558143"/>
                </a:cubicBezTo>
                <a:cubicBezTo>
                  <a:pt x="3901799" y="2592293"/>
                  <a:pt x="3773402" y="2530983"/>
                  <a:pt x="3542750" y="2558143"/>
                </a:cubicBezTo>
                <a:cubicBezTo>
                  <a:pt x="3312098" y="2585303"/>
                  <a:pt x="3141801" y="2529145"/>
                  <a:pt x="2946328" y="2558143"/>
                </a:cubicBezTo>
                <a:cubicBezTo>
                  <a:pt x="2750855" y="2587141"/>
                  <a:pt x="2694180" y="2521544"/>
                  <a:pt x="2576546" y="2558143"/>
                </a:cubicBezTo>
                <a:cubicBezTo>
                  <a:pt x="2458912" y="2594742"/>
                  <a:pt x="2022467" y="2521520"/>
                  <a:pt x="1753482" y="2558143"/>
                </a:cubicBezTo>
                <a:cubicBezTo>
                  <a:pt x="1484497" y="2594766"/>
                  <a:pt x="1357976" y="2514141"/>
                  <a:pt x="1157060" y="2558143"/>
                </a:cubicBezTo>
                <a:cubicBezTo>
                  <a:pt x="956144" y="2602145"/>
                  <a:pt x="320795" y="2502594"/>
                  <a:pt x="0" y="2558143"/>
                </a:cubicBezTo>
                <a:cubicBezTo>
                  <a:pt x="-37582" y="2411680"/>
                  <a:pt x="35647" y="2206580"/>
                  <a:pt x="0" y="2020933"/>
                </a:cubicBezTo>
                <a:cubicBezTo>
                  <a:pt x="-35647" y="1835286"/>
                  <a:pt x="12095" y="1631591"/>
                  <a:pt x="0" y="1509304"/>
                </a:cubicBezTo>
                <a:cubicBezTo>
                  <a:pt x="-12095" y="1387017"/>
                  <a:pt x="9121" y="1128372"/>
                  <a:pt x="0" y="1023257"/>
                </a:cubicBezTo>
                <a:cubicBezTo>
                  <a:pt x="-9121" y="918142"/>
                  <a:pt x="28743" y="661405"/>
                  <a:pt x="0" y="486047"/>
                </a:cubicBezTo>
                <a:cubicBezTo>
                  <a:pt x="-28743" y="310689"/>
                  <a:pt x="1358" y="108521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75900"/>
            </a:schemeClr>
          </a:solidFill>
          <a:ln w="38100"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4B7A5-6337-37AF-7D5B-9D59CC25B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661" y="689331"/>
            <a:ext cx="10319658" cy="2900518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Gabriola" pitchFamily="82" charset="0"/>
              </a:rPr>
              <a:t>Near-Optimal Encodings of Cardinality Constraints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93683-8933-90DC-DAE9-6E0604C2EBB8}"/>
              </a:ext>
            </a:extLst>
          </p:cNvPr>
          <p:cNvSpPr/>
          <p:nvPr/>
        </p:nvSpPr>
        <p:spPr>
          <a:xfrm>
            <a:off x="-152400" y="4856960"/>
            <a:ext cx="12593782" cy="2220756"/>
          </a:xfrm>
          <a:prstGeom prst="rect">
            <a:avLst/>
          </a:prstGeom>
          <a:solidFill>
            <a:schemeClr val="tx2">
              <a:alpha val="5962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F8273-D00A-BFC3-FD08-23DA3D30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715" y="4856960"/>
            <a:ext cx="10940140" cy="2220756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Gabriola" pitchFamily="82" charset="0"/>
              </a:rPr>
              <a:t>Bernardo Subercaseaux (</a:t>
            </a:r>
            <a:r>
              <a:rPr lang="en-US" sz="6000" dirty="0" err="1">
                <a:solidFill>
                  <a:schemeClr val="bg2">
                    <a:lumMod val="75000"/>
                    <a:lumOff val="25000"/>
                  </a:schemeClr>
                </a:solidFill>
                <a:latin typeface="Gabriola" pitchFamily="82" charset="0"/>
              </a:rPr>
              <a:t>bersub@cmu.edu</a:t>
            </a:r>
            <a:r>
              <a:rPr lang="en-US" sz="6000" dirty="0">
                <a:solidFill>
                  <a:schemeClr val="bg1"/>
                </a:solidFill>
                <a:latin typeface="Gabriola" pitchFamily="82" charset="0"/>
              </a:rPr>
              <a:t>)</a:t>
            </a:r>
            <a:endParaRPr lang="en-US" sz="2800" dirty="0">
              <a:solidFill>
                <a:schemeClr val="bg1"/>
              </a:solidFill>
              <a:latin typeface="Gabriola" pitchFamily="8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Gabriola" pitchFamily="82" charset="0"/>
              </a:rPr>
              <a:t>Joint work with Andrew Krapivin and Benjamin Przybocki</a:t>
            </a:r>
          </a:p>
        </p:txBody>
      </p:sp>
    </p:spTree>
    <p:extLst>
      <p:ext uri="{BB962C8B-B14F-4D97-AF65-F5344CB8AC3E}">
        <p14:creationId xmlns:p14="http://schemas.microsoft.com/office/powerpoint/2010/main" val="3269772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C375E5-FF80-BDA6-9350-1A3D0C9538E1}"/>
              </a:ext>
            </a:extLst>
          </p:cNvPr>
          <p:cNvSpPr txBox="1">
            <a:spLocks/>
          </p:cNvSpPr>
          <p:nvPr/>
        </p:nvSpPr>
        <p:spPr>
          <a:xfrm>
            <a:off x="280201" y="3271866"/>
            <a:ext cx="3610635" cy="90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Gabriola" pitchFamily="82" charset="0"/>
              </a:rPr>
              <a:t>exactly one 7 per row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pic>
        <p:nvPicPr>
          <p:cNvPr id="7" name="Picture 6" descr="Sudoku - Wikipedia">
            <a:extLst>
              <a:ext uri="{FF2B5EF4-FFF2-40B4-BE49-F238E27FC236}">
                <a16:creationId xmlns:a16="http://schemas.microsoft.com/office/drawing/2014/main" id="{06CD213E-2A8B-1D22-300B-EB5A35508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98" y="1626150"/>
            <a:ext cx="1695360" cy="16953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384C67C-21F4-9A1D-AEDC-FB4D45001C16}"/>
              </a:ext>
            </a:extLst>
          </p:cNvPr>
          <p:cNvSpPr txBox="1">
            <a:spLocks/>
          </p:cNvSpPr>
          <p:nvPr/>
        </p:nvSpPr>
        <p:spPr>
          <a:xfrm>
            <a:off x="651657" y="316553"/>
            <a:ext cx="10888684" cy="1181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>
                <a:latin typeface="Gabriola" pitchFamily="82" charset="0"/>
              </a:rPr>
              <a:t>Cardinality constraints are </a:t>
            </a:r>
            <a:r>
              <a:rPr lang="en-US" sz="6600" b="1" dirty="0">
                <a:solidFill>
                  <a:schemeClr val="accent2">
                    <a:lumMod val="75000"/>
                  </a:schemeClr>
                </a:solidFill>
                <a:latin typeface="Gabriola" pitchFamily="82" charset="0"/>
              </a:rPr>
              <a:t>everywhere</a:t>
            </a:r>
            <a:r>
              <a:rPr lang="en-US" sz="6600" dirty="0">
                <a:solidFill>
                  <a:schemeClr val="accent2">
                    <a:lumMod val="75000"/>
                  </a:schemeClr>
                </a:solidFill>
                <a:latin typeface="Gabriola" pitchFamily="82" charset="0"/>
              </a:rPr>
              <a:t>!</a:t>
            </a:r>
          </a:p>
        </p:txBody>
      </p:sp>
      <p:pic>
        <p:nvPicPr>
          <p:cNvPr id="10" name="Picture 9" descr="5 Stylish Wedding Reception Table Design Ideas | Treasury on the Plaza">
            <a:extLst>
              <a:ext uri="{FF2B5EF4-FFF2-40B4-BE49-F238E27FC236}">
                <a16:creationId xmlns:a16="http://schemas.microsoft.com/office/drawing/2014/main" id="{CBE08793-A828-9F8A-9FCB-77CEBF90C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066" y="1672026"/>
            <a:ext cx="2375286" cy="158253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F85DA3-2275-D0BA-25B3-C0D0C9B90B9C}"/>
              </a:ext>
            </a:extLst>
          </p:cNvPr>
          <p:cNvSpPr txBox="1">
            <a:spLocks/>
          </p:cNvSpPr>
          <p:nvPr/>
        </p:nvSpPr>
        <p:spPr>
          <a:xfrm>
            <a:off x="3812392" y="3254560"/>
            <a:ext cx="3610635" cy="90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Gabriola" pitchFamily="82" charset="0"/>
              </a:rPr>
              <a:t>at most 7 people per table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pic>
        <p:nvPicPr>
          <p:cNvPr id="13" name="Picture 12" descr="EasyChair Smart Program Technology">
            <a:extLst>
              <a:ext uri="{FF2B5EF4-FFF2-40B4-BE49-F238E27FC236}">
                <a16:creationId xmlns:a16="http://schemas.microsoft.com/office/drawing/2014/main" id="{43C6032A-5377-9D65-F6B8-A43204AFA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295" y="1626150"/>
            <a:ext cx="2344872" cy="101640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BA61A32-0184-4B6A-E5AE-46EBD7B7D228}"/>
              </a:ext>
            </a:extLst>
          </p:cNvPr>
          <p:cNvSpPr txBox="1">
            <a:spLocks/>
          </p:cNvSpPr>
          <p:nvPr/>
        </p:nvSpPr>
        <p:spPr>
          <a:xfrm>
            <a:off x="7768295" y="3254559"/>
            <a:ext cx="3931631" cy="90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Gabriola" pitchFamily="82" charset="0"/>
              </a:rPr>
              <a:t>at least 3 reviewers per paper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pic>
        <p:nvPicPr>
          <p:cNvPr id="15" name="Graphic 14" descr="Hamiltonian path - Simple English Wikipedia, the free encyclopedia">
            <a:extLst>
              <a:ext uri="{FF2B5EF4-FFF2-40B4-BE49-F238E27FC236}">
                <a16:creationId xmlns:a16="http://schemas.microsoft.com/office/drawing/2014/main" id="{B8755C6E-7552-FEAC-9112-D9BB0D875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6527" y="4193115"/>
            <a:ext cx="1961482" cy="1877896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C15FA6FB-A55E-9D75-49B5-3133E50D3913}"/>
              </a:ext>
            </a:extLst>
          </p:cNvPr>
          <p:cNvSpPr txBox="1">
            <a:spLocks/>
          </p:cNvSpPr>
          <p:nvPr/>
        </p:nvSpPr>
        <p:spPr>
          <a:xfrm>
            <a:off x="1660792" y="5915477"/>
            <a:ext cx="3610635" cy="90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Gabriola" pitchFamily="82" charset="0"/>
              </a:rPr>
              <a:t>exactly two edges per vertex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0A359A-8DAF-37B7-5DC1-57DDE38D2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95283">
            <a:off x="8389918" y="2377194"/>
            <a:ext cx="3067617" cy="787858"/>
          </a:xfrm>
          <a:prstGeom prst="rect">
            <a:avLst/>
          </a:prstGeom>
        </p:spPr>
      </p:pic>
      <p:pic>
        <p:nvPicPr>
          <p:cNvPr id="19" name="Picture 18" descr="Maximum capacity 1,134 @KGArea21 seems like a lot for an elevator">
            <a:extLst>
              <a:ext uri="{FF2B5EF4-FFF2-40B4-BE49-F238E27FC236}">
                <a16:creationId xmlns:a16="http://schemas.microsoft.com/office/drawing/2014/main" id="{0CA41BF6-ED2D-C231-1E0C-67DA0B4B8E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0575" y="4314572"/>
            <a:ext cx="2179974" cy="1634981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0F43F58C-BAC0-4399-3865-FB8FB6948442}"/>
              </a:ext>
            </a:extLst>
          </p:cNvPr>
          <p:cNvSpPr txBox="1">
            <a:spLocks/>
          </p:cNvSpPr>
          <p:nvPr/>
        </p:nvSpPr>
        <p:spPr>
          <a:xfrm>
            <a:off x="6123475" y="5920225"/>
            <a:ext cx="4135647" cy="90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Gabriola" pitchFamily="82" charset="0"/>
              </a:rPr>
              <a:t>at most </a:t>
            </a:r>
            <a:r>
              <a:rPr lang="en-US" sz="2800" b="1" dirty="0">
                <a:latin typeface="Gabriola" pitchFamily="82" charset="0"/>
              </a:rPr>
              <a:t>K </a:t>
            </a:r>
            <a:r>
              <a:rPr lang="en-US" sz="2800" dirty="0">
                <a:latin typeface="Gabriola" pitchFamily="82" charset="0"/>
              </a:rPr>
              <a:t>as an approximation/redundant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75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FAF937-7FEE-2FB4-F5DD-BDECE55C0D41}"/>
              </a:ext>
            </a:extLst>
          </p:cNvPr>
          <p:cNvSpPr txBox="1">
            <a:spLocks/>
          </p:cNvSpPr>
          <p:nvPr/>
        </p:nvSpPr>
        <p:spPr>
          <a:xfrm>
            <a:off x="651657" y="316553"/>
            <a:ext cx="10888684" cy="1181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>
                <a:latin typeface="Gabriola" pitchFamily="82" charset="0"/>
              </a:rPr>
              <a:t>Why </a:t>
            </a:r>
            <a:r>
              <a:rPr lang="en-US" sz="6600" b="1" dirty="0">
                <a:latin typeface="Gabriola" pitchFamily="82" charset="0"/>
              </a:rPr>
              <a:t>encode</a:t>
            </a:r>
            <a:r>
              <a:rPr lang="en-US" sz="6600" dirty="0">
                <a:latin typeface="Gabriola" pitchFamily="82" charset="0"/>
              </a:rPr>
              <a:t> these?</a:t>
            </a:r>
            <a:endParaRPr lang="en-US" sz="66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967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6384-017A-DBA7-0A06-DFC83D6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>
                <a:latin typeface="Gabriola" pitchFamily="82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00696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2415</TotalTime>
  <Words>63</Words>
  <Application>Microsoft Macintosh PowerPoint</Application>
  <PresentationFormat>Widescreen</PresentationFormat>
  <Paragraphs>12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Gabriola</vt:lpstr>
      <vt:lpstr>Office Theme</vt:lpstr>
      <vt:lpstr>Near-Optimal Encodings of Cardinality Constraints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Bernardo Anibal Subercaseaux Roa</dc:creator>
  <cp:lastModifiedBy>Bernardo Anibal Subercaseaux Roa</cp:lastModifiedBy>
  <cp:revision>1</cp:revision>
  <dcterms:created xsi:type="dcterms:W3CDTF">2026-07-04T01:50:31Z</dcterms:created>
  <dcterms:modified xsi:type="dcterms:W3CDTF">2026-07-05T18:05:39Z</dcterms:modified>
</cp:coreProperties>
</file>