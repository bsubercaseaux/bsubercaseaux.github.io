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8" r:id="rId4"/>
    <p:sldId id="264" r:id="rId5"/>
    <p:sldId id="265" r:id="rId6"/>
    <p:sldId id="266" r:id="rId7"/>
    <p:sldId id="269" r:id="rId8"/>
    <p:sldId id="259" r:id="rId9"/>
    <p:sldId id="260" r:id="rId10"/>
    <p:sldId id="271" r:id="rId11"/>
    <p:sldId id="268" r:id="rId12"/>
    <p:sldId id="267" r:id="rId13"/>
    <p:sldId id="263" r:id="rId14"/>
    <p:sldId id="26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2014"/>
  </p:normalViewPr>
  <p:slideViewPr>
    <p:cSldViewPr snapToGrid="0">
      <p:cViewPr>
        <p:scale>
          <a:sx n="82" d="100"/>
          <a:sy n="82" d="100"/>
        </p:scale>
        <p:origin x="1824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E61A2C-F1C7-D04D-884F-1923D1456FE8}" type="datetimeFigureOut">
              <a:rPr lang="en-US" smtClean="0"/>
              <a:t>7/17/26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433084-702F-3544-BB77-2EDD9E601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758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433084-702F-3544-BB77-2EDD9E60188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590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8745C-B9C3-6301-7EA8-B8B3B195F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1302FA-37BA-169E-827B-3F76D9C5FE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A099D4-059C-85B1-680A-76B28ACD54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CBCFF-D144-B2CE-091F-49C3178396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433084-702F-3544-BB77-2EDD9E60188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279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27C47-4048-454C-BA0A-AAC237490873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CC997-7994-3449-9DF9-FC9825AF8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052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27C47-4048-454C-BA0A-AAC237490873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CC997-7994-3449-9DF9-FC9825AF8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685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27C47-4048-454C-BA0A-AAC237490873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CC997-7994-3449-9DF9-FC9825AF8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557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27C47-4048-454C-BA0A-AAC237490873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CC997-7994-3449-9DF9-FC9825AF8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12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27C47-4048-454C-BA0A-AAC237490873}" type="datetimeFigureOut">
              <a:rPr lang="en-US" smtClean="0"/>
              <a:t>7/17/26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CC997-7994-3449-9DF9-FC9825AF8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745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27C47-4048-454C-BA0A-AAC237490873}" type="datetimeFigureOut">
              <a:rPr lang="en-US" smtClean="0"/>
              <a:t>7/17/26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CC997-7994-3449-9DF9-FC9825AF8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683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27C47-4048-454C-BA0A-AAC237490873}" type="datetimeFigureOut">
              <a:rPr lang="en-US" smtClean="0"/>
              <a:t>7/17/26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CC997-7994-3449-9DF9-FC9825AF8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209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27C47-4048-454C-BA0A-AAC237490873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CC997-7994-3449-9DF9-FC9825AF8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084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27C47-4048-454C-BA0A-AAC237490873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CC997-7994-3449-9DF9-FC9825AF8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368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27C47-4048-454C-BA0A-AAC237490873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CC997-7994-3449-9DF9-FC9825AF8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531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27C47-4048-454C-BA0A-AAC237490873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CC997-7994-3449-9DF9-FC9825AF8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676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C27C47-4048-454C-BA0A-AAC237490873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ACC997-7994-3449-9DF9-FC9825AF8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130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ircle Limit III by M.C. Escher">
            <a:extLst>
              <a:ext uri="{FF2B5EF4-FFF2-40B4-BE49-F238E27FC236}">
                <a16:creationId xmlns:a16="http://schemas.microsoft.com/office/drawing/2014/main" id="{A7DA3044-893F-9FD4-EB36-64191A1DA32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3000"/>
          </a:blip>
          <a:srcRect t="18458" b="20566"/>
          <a:stretch>
            <a:fillRect/>
          </a:stretch>
        </p:blipFill>
        <p:spPr>
          <a:xfrm>
            <a:off x="0" y="1"/>
            <a:ext cx="12191980" cy="685799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4318E3C-CFEB-52D5-BD72-2B570FBAC134}"/>
              </a:ext>
            </a:extLst>
          </p:cNvPr>
          <p:cNvSpPr/>
          <p:nvPr/>
        </p:nvSpPr>
        <p:spPr>
          <a:xfrm>
            <a:off x="478476" y="1106392"/>
            <a:ext cx="11332029" cy="2558143"/>
          </a:xfrm>
          <a:custGeom>
            <a:avLst/>
            <a:gdLst>
              <a:gd name="csX0" fmla="*/ 0 w 11332029"/>
              <a:gd name="csY0" fmla="*/ 0 h 2558143"/>
              <a:gd name="csX1" fmla="*/ 823063 w 11332029"/>
              <a:gd name="csY1" fmla="*/ 0 h 2558143"/>
              <a:gd name="csX2" fmla="*/ 1532806 w 11332029"/>
              <a:gd name="csY2" fmla="*/ 0 h 2558143"/>
              <a:gd name="csX3" fmla="*/ 2355869 w 11332029"/>
              <a:gd name="csY3" fmla="*/ 0 h 2558143"/>
              <a:gd name="csX4" fmla="*/ 2952292 w 11332029"/>
              <a:gd name="csY4" fmla="*/ 0 h 2558143"/>
              <a:gd name="csX5" fmla="*/ 3662035 w 11332029"/>
              <a:gd name="csY5" fmla="*/ 0 h 2558143"/>
              <a:gd name="csX6" fmla="*/ 4258457 w 11332029"/>
              <a:gd name="csY6" fmla="*/ 0 h 2558143"/>
              <a:gd name="csX7" fmla="*/ 4854880 w 11332029"/>
              <a:gd name="csY7" fmla="*/ 0 h 2558143"/>
              <a:gd name="csX8" fmla="*/ 5451302 w 11332029"/>
              <a:gd name="csY8" fmla="*/ 0 h 2558143"/>
              <a:gd name="csX9" fmla="*/ 5707764 w 11332029"/>
              <a:gd name="csY9" fmla="*/ 0 h 2558143"/>
              <a:gd name="csX10" fmla="*/ 6417507 w 11332029"/>
              <a:gd name="csY10" fmla="*/ 0 h 2558143"/>
              <a:gd name="csX11" fmla="*/ 6673969 w 11332029"/>
              <a:gd name="csY11" fmla="*/ 0 h 2558143"/>
              <a:gd name="csX12" fmla="*/ 7270391 w 11332029"/>
              <a:gd name="csY12" fmla="*/ 0 h 2558143"/>
              <a:gd name="csX13" fmla="*/ 8093454 w 11332029"/>
              <a:gd name="csY13" fmla="*/ 0 h 2558143"/>
              <a:gd name="csX14" fmla="*/ 8916518 w 11332029"/>
              <a:gd name="csY14" fmla="*/ 0 h 2558143"/>
              <a:gd name="csX15" fmla="*/ 9626260 w 11332029"/>
              <a:gd name="csY15" fmla="*/ 0 h 2558143"/>
              <a:gd name="csX16" fmla="*/ 10109363 w 11332029"/>
              <a:gd name="csY16" fmla="*/ 0 h 2558143"/>
              <a:gd name="csX17" fmla="*/ 10365824 w 11332029"/>
              <a:gd name="csY17" fmla="*/ 0 h 2558143"/>
              <a:gd name="csX18" fmla="*/ 11332029 w 11332029"/>
              <a:gd name="csY18" fmla="*/ 0 h 2558143"/>
              <a:gd name="csX19" fmla="*/ 11332029 w 11332029"/>
              <a:gd name="csY19" fmla="*/ 537210 h 2558143"/>
              <a:gd name="csX20" fmla="*/ 11332029 w 11332029"/>
              <a:gd name="csY20" fmla="*/ 1023257 h 2558143"/>
              <a:gd name="csX21" fmla="*/ 11332029 w 11332029"/>
              <a:gd name="csY21" fmla="*/ 1586049 h 2558143"/>
              <a:gd name="csX22" fmla="*/ 11332029 w 11332029"/>
              <a:gd name="csY22" fmla="*/ 2046514 h 2558143"/>
              <a:gd name="csX23" fmla="*/ 11332029 w 11332029"/>
              <a:gd name="csY23" fmla="*/ 2558143 h 2558143"/>
              <a:gd name="csX24" fmla="*/ 10962247 w 11332029"/>
              <a:gd name="csY24" fmla="*/ 2558143 h 2558143"/>
              <a:gd name="csX25" fmla="*/ 10705785 w 11332029"/>
              <a:gd name="csY25" fmla="*/ 2558143 h 2558143"/>
              <a:gd name="csX26" fmla="*/ 9882722 w 11332029"/>
              <a:gd name="csY26" fmla="*/ 2558143 h 2558143"/>
              <a:gd name="csX27" fmla="*/ 9399620 w 11332029"/>
              <a:gd name="csY27" fmla="*/ 2558143 h 2558143"/>
              <a:gd name="csX28" fmla="*/ 8689877 w 11332029"/>
              <a:gd name="csY28" fmla="*/ 2558143 h 2558143"/>
              <a:gd name="csX29" fmla="*/ 8433415 w 11332029"/>
              <a:gd name="csY29" fmla="*/ 2558143 h 2558143"/>
              <a:gd name="csX30" fmla="*/ 7610352 w 11332029"/>
              <a:gd name="csY30" fmla="*/ 2558143 h 2558143"/>
              <a:gd name="csX31" fmla="*/ 7127250 w 11332029"/>
              <a:gd name="csY31" fmla="*/ 2558143 h 2558143"/>
              <a:gd name="csX32" fmla="*/ 6530827 w 11332029"/>
              <a:gd name="csY32" fmla="*/ 2558143 h 2558143"/>
              <a:gd name="csX33" fmla="*/ 6161045 w 11332029"/>
              <a:gd name="csY33" fmla="*/ 2558143 h 2558143"/>
              <a:gd name="csX34" fmla="*/ 5451302 w 11332029"/>
              <a:gd name="csY34" fmla="*/ 2558143 h 2558143"/>
              <a:gd name="csX35" fmla="*/ 4628239 w 11332029"/>
              <a:gd name="csY35" fmla="*/ 2558143 h 2558143"/>
              <a:gd name="csX36" fmla="*/ 4145137 w 11332029"/>
              <a:gd name="csY36" fmla="*/ 2558143 h 2558143"/>
              <a:gd name="csX37" fmla="*/ 3322074 w 11332029"/>
              <a:gd name="csY37" fmla="*/ 2558143 h 2558143"/>
              <a:gd name="csX38" fmla="*/ 2725651 w 11332029"/>
              <a:gd name="csY38" fmla="*/ 2558143 h 2558143"/>
              <a:gd name="csX39" fmla="*/ 1902588 w 11332029"/>
              <a:gd name="csY39" fmla="*/ 2558143 h 2558143"/>
              <a:gd name="csX40" fmla="*/ 1079525 w 11332029"/>
              <a:gd name="csY40" fmla="*/ 2558143 h 2558143"/>
              <a:gd name="csX41" fmla="*/ 709743 w 11332029"/>
              <a:gd name="csY41" fmla="*/ 2558143 h 2558143"/>
              <a:gd name="csX42" fmla="*/ 0 w 11332029"/>
              <a:gd name="csY42" fmla="*/ 2558143 h 2558143"/>
              <a:gd name="csX43" fmla="*/ 0 w 11332029"/>
              <a:gd name="csY43" fmla="*/ 2046514 h 2558143"/>
              <a:gd name="csX44" fmla="*/ 0 w 11332029"/>
              <a:gd name="csY44" fmla="*/ 1483723 h 2558143"/>
              <a:gd name="csX45" fmla="*/ 0 w 11332029"/>
              <a:gd name="csY45" fmla="*/ 1048839 h 2558143"/>
              <a:gd name="csX46" fmla="*/ 0 w 11332029"/>
              <a:gd name="csY46" fmla="*/ 613954 h 2558143"/>
              <a:gd name="csX47" fmla="*/ 0 w 11332029"/>
              <a:gd name="csY47" fmla="*/ 0 h 25581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</a:cxnLst>
            <a:rect l="l" t="t" r="r" b="b"/>
            <a:pathLst>
              <a:path w="11332029" h="2558143" fill="none" extrusionOk="0">
                <a:moveTo>
                  <a:pt x="0" y="0"/>
                </a:moveTo>
                <a:cubicBezTo>
                  <a:pt x="182583" y="-91799"/>
                  <a:pt x="462719" y="75828"/>
                  <a:pt x="823063" y="0"/>
                </a:cubicBezTo>
                <a:cubicBezTo>
                  <a:pt x="1183407" y="-75828"/>
                  <a:pt x="1317569" y="65063"/>
                  <a:pt x="1532806" y="0"/>
                </a:cubicBezTo>
                <a:cubicBezTo>
                  <a:pt x="1748043" y="-65063"/>
                  <a:pt x="1960156" y="29868"/>
                  <a:pt x="2355869" y="0"/>
                </a:cubicBezTo>
                <a:cubicBezTo>
                  <a:pt x="2751582" y="-29868"/>
                  <a:pt x="2701370" y="6882"/>
                  <a:pt x="2952292" y="0"/>
                </a:cubicBezTo>
                <a:cubicBezTo>
                  <a:pt x="3203214" y="-6882"/>
                  <a:pt x="3396504" y="33271"/>
                  <a:pt x="3662035" y="0"/>
                </a:cubicBezTo>
                <a:cubicBezTo>
                  <a:pt x="3927566" y="-33271"/>
                  <a:pt x="4128336" y="44967"/>
                  <a:pt x="4258457" y="0"/>
                </a:cubicBezTo>
                <a:cubicBezTo>
                  <a:pt x="4388578" y="-44967"/>
                  <a:pt x="4716981" y="26735"/>
                  <a:pt x="4854880" y="0"/>
                </a:cubicBezTo>
                <a:cubicBezTo>
                  <a:pt x="4992779" y="-26735"/>
                  <a:pt x="5279990" y="35712"/>
                  <a:pt x="5451302" y="0"/>
                </a:cubicBezTo>
                <a:cubicBezTo>
                  <a:pt x="5622614" y="-35712"/>
                  <a:pt x="5636684" y="3945"/>
                  <a:pt x="5707764" y="0"/>
                </a:cubicBezTo>
                <a:cubicBezTo>
                  <a:pt x="5778844" y="-3945"/>
                  <a:pt x="6161282" y="7645"/>
                  <a:pt x="6417507" y="0"/>
                </a:cubicBezTo>
                <a:cubicBezTo>
                  <a:pt x="6673732" y="-7645"/>
                  <a:pt x="6552202" y="29946"/>
                  <a:pt x="6673969" y="0"/>
                </a:cubicBezTo>
                <a:cubicBezTo>
                  <a:pt x="6795736" y="-29946"/>
                  <a:pt x="7136498" y="31688"/>
                  <a:pt x="7270391" y="0"/>
                </a:cubicBezTo>
                <a:cubicBezTo>
                  <a:pt x="7404284" y="-31688"/>
                  <a:pt x="7908413" y="87830"/>
                  <a:pt x="8093454" y="0"/>
                </a:cubicBezTo>
                <a:cubicBezTo>
                  <a:pt x="8278495" y="-87830"/>
                  <a:pt x="8731162" y="92914"/>
                  <a:pt x="8916518" y="0"/>
                </a:cubicBezTo>
                <a:cubicBezTo>
                  <a:pt x="9101874" y="-92914"/>
                  <a:pt x="9376694" y="71185"/>
                  <a:pt x="9626260" y="0"/>
                </a:cubicBezTo>
                <a:cubicBezTo>
                  <a:pt x="9875826" y="-71185"/>
                  <a:pt x="9965148" y="10606"/>
                  <a:pt x="10109363" y="0"/>
                </a:cubicBezTo>
                <a:cubicBezTo>
                  <a:pt x="10253578" y="-10606"/>
                  <a:pt x="10263202" y="16832"/>
                  <a:pt x="10365824" y="0"/>
                </a:cubicBezTo>
                <a:cubicBezTo>
                  <a:pt x="10468446" y="-16832"/>
                  <a:pt x="10918817" y="43112"/>
                  <a:pt x="11332029" y="0"/>
                </a:cubicBezTo>
                <a:cubicBezTo>
                  <a:pt x="11352781" y="110869"/>
                  <a:pt x="11321510" y="280240"/>
                  <a:pt x="11332029" y="537210"/>
                </a:cubicBezTo>
                <a:cubicBezTo>
                  <a:pt x="11342548" y="794180"/>
                  <a:pt x="11316064" y="881725"/>
                  <a:pt x="11332029" y="1023257"/>
                </a:cubicBezTo>
                <a:cubicBezTo>
                  <a:pt x="11347994" y="1164789"/>
                  <a:pt x="11285258" y="1323884"/>
                  <a:pt x="11332029" y="1586049"/>
                </a:cubicBezTo>
                <a:cubicBezTo>
                  <a:pt x="11378800" y="1848214"/>
                  <a:pt x="11315194" y="1869258"/>
                  <a:pt x="11332029" y="2046514"/>
                </a:cubicBezTo>
                <a:cubicBezTo>
                  <a:pt x="11348864" y="2223771"/>
                  <a:pt x="11273215" y="2381382"/>
                  <a:pt x="11332029" y="2558143"/>
                </a:cubicBezTo>
                <a:cubicBezTo>
                  <a:pt x="11180306" y="2558371"/>
                  <a:pt x="11072384" y="2552368"/>
                  <a:pt x="10962247" y="2558143"/>
                </a:cubicBezTo>
                <a:cubicBezTo>
                  <a:pt x="10852110" y="2563918"/>
                  <a:pt x="10770278" y="2546020"/>
                  <a:pt x="10705785" y="2558143"/>
                </a:cubicBezTo>
                <a:cubicBezTo>
                  <a:pt x="10641292" y="2570266"/>
                  <a:pt x="10183157" y="2482499"/>
                  <a:pt x="9882722" y="2558143"/>
                </a:cubicBezTo>
                <a:cubicBezTo>
                  <a:pt x="9582287" y="2633787"/>
                  <a:pt x="9579554" y="2544720"/>
                  <a:pt x="9399620" y="2558143"/>
                </a:cubicBezTo>
                <a:cubicBezTo>
                  <a:pt x="9219686" y="2571566"/>
                  <a:pt x="8877797" y="2518817"/>
                  <a:pt x="8689877" y="2558143"/>
                </a:cubicBezTo>
                <a:cubicBezTo>
                  <a:pt x="8501957" y="2597469"/>
                  <a:pt x="8490130" y="2553123"/>
                  <a:pt x="8433415" y="2558143"/>
                </a:cubicBezTo>
                <a:cubicBezTo>
                  <a:pt x="8376700" y="2563163"/>
                  <a:pt x="8019769" y="2535817"/>
                  <a:pt x="7610352" y="2558143"/>
                </a:cubicBezTo>
                <a:cubicBezTo>
                  <a:pt x="7200935" y="2580469"/>
                  <a:pt x="7251362" y="2508651"/>
                  <a:pt x="7127250" y="2558143"/>
                </a:cubicBezTo>
                <a:cubicBezTo>
                  <a:pt x="7003138" y="2607635"/>
                  <a:pt x="6708190" y="2500051"/>
                  <a:pt x="6530827" y="2558143"/>
                </a:cubicBezTo>
                <a:cubicBezTo>
                  <a:pt x="6353464" y="2616235"/>
                  <a:pt x="6311756" y="2517035"/>
                  <a:pt x="6161045" y="2558143"/>
                </a:cubicBezTo>
                <a:cubicBezTo>
                  <a:pt x="6010334" y="2599251"/>
                  <a:pt x="5675817" y="2551631"/>
                  <a:pt x="5451302" y="2558143"/>
                </a:cubicBezTo>
                <a:cubicBezTo>
                  <a:pt x="5226787" y="2564655"/>
                  <a:pt x="4830520" y="2512635"/>
                  <a:pt x="4628239" y="2558143"/>
                </a:cubicBezTo>
                <a:cubicBezTo>
                  <a:pt x="4425958" y="2603651"/>
                  <a:pt x="4292003" y="2516461"/>
                  <a:pt x="4145137" y="2558143"/>
                </a:cubicBezTo>
                <a:cubicBezTo>
                  <a:pt x="3998271" y="2599825"/>
                  <a:pt x="3592378" y="2523926"/>
                  <a:pt x="3322074" y="2558143"/>
                </a:cubicBezTo>
                <a:cubicBezTo>
                  <a:pt x="3051770" y="2592360"/>
                  <a:pt x="2991225" y="2491536"/>
                  <a:pt x="2725651" y="2558143"/>
                </a:cubicBezTo>
                <a:cubicBezTo>
                  <a:pt x="2460077" y="2624750"/>
                  <a:pt x="2093628" y="2468113"/>
                  <a:pt x="1902588" y="2558143"/>
                </a:cubicBezTo>
                <a:cubicBezTo>
                  <a:pt x="1711548" y="2648173"/>
                  <a:pt x="1269271" y="2534472"/>
                  <a:pt x="1079525" y="2558143"/>
                </a:cubicBezTo>
                <a:cubicBezTo>
                  <a:pt x="889779" y="2581814"/>
                  <a:pt x="878940" y="2530636"/>
                  <a:pt x="709743" y="2558143"/>
                </a:cubicBezTo>
                <a:cubicBezTo>
                  <a:pt x="540546" y="2585650"/>
                  <a:pt x="240263" y="2508587"/>
                  <a:pt x="0" y="2558143"/>
                </a:cubicBezTo>
                <a:cubicBezTo>
                  <a:pt x="-14201" y="2350198"/>
                  <a:pt x="49662" y="2258248"/>
                  <a:pt x="0" y="2046514"/>
                </a:cubicBezTo>
                <a:cubicBezTo>
                  <a:pt x="-49662" y="1834780"/>
                  <a:pt x="67258" y="1764011"/>
                  <a:pt x="0" y="1483723"/>
                </a:cubicBezTo>
                <a:cubicBezTo>
                  <a:pt x="-67258" y="1203435"/>
                  <a:pt x="45171" y="1250357"/>
                  <a:pt x="0" y="1048839"/>
                </a:cubicBezTo>
                <a:cubicBezTo>
                  <a:pt x="-45171" y="847321"/>
                  <a:pt x="50934" y="708637"/>
                  <a:pt x="0" y="613954"/>
                </a:cubicBezTo>
                <a:cubicBezTo>
                  <a:pt x="-50934" y="519272"/>
                  <a:pt x="23050" y="126984"/>
                  <a:pt x="0" y="0"/>
                </a:cubicBezTo>
                <a:close/>
              </a:path>
              <a:path w="11332029" h="2558143" stroke="0" extrusionOk="0">
                <a:moveTo>
                  <a:pt x="0" y="0"/>
                </a:moveTo>
                <a:cubicBezTo>
                  <a:pt x="129121" y="-2655"/>
                  <a:pt x="281317" y="34523"/>
                  <a:pt x="483102" y="0"/>
                </a:cubicBezTo>
                <a:cubicBezTo>
                  <a:pt x="684887" y="-34523"/>
                  <a:pt x="633637" y="1801"/>
                  <a:pt x="739564" y="0"/>
                </a:cubicBezTo>
                <a:cubicBezTo>
                  <a:pt x="845491" y="-1801"/>
                  <a:pt x="1210035" y="23081"/>
                  <a:pt x="1562627" y="0"/>
                </a:cubicBezTo>
                <a:cubicBezTo>
                  <a:pt x="1915219" y="-23081"/>
                  <a:pt x="1939681" y="22921"/>
                  <a:pt x="2045729" y="0"/>
                </a:cubicBezTo>
                <a:cubicBezTo>
                  <a:pt x="2151777" y="-22921"/>
                  <a:pt x="2329701" y="10556"/>
                  <a:pt x="2528832" y="0"/>
                </a:cubicBezTo>
                <a:cubicBezTo>
                  <a:pt x="2727963" y="-10556"/>
                  <a:pt x="3078432" y="84713"/>
                  <a:pt x="3351895" y="0"/>
                </a:cubicBezTo>
                <a:cubicBezTo>
                  <a:pt x="3625358" y="-84713"/>
                  <a:pt x="3626677" y="37672"/>
                  <a:pt x="3721677" y="0"/>
                </a:cubicBezTo>
                <a:cubicBezTo>
                  <a:pt x="3816677" y="-37672"/>
                  <a:pt x="4362165" y="42861"/>
                  <a:pt x="4544740" y="0"/>
                </a:cubicBezTo>
                <a:cubicBezTo>
                  <a:pt x="4727315" y="-42861"/>
                  <a:pt x="5159509" y="90600"/>
                  <a:pt x="5367803" y="0"/>
                </a:cubicBezTo>
                <a:cubicBezTo>
                  <a:pt x="5576097" y="-90600"/>
                  <a:pt x="5733363" y="67062"/>
                  <a:pt x="5964226" y="0"/>
                </a:cubicBezTo>
                <a:cubicBezTo>
                  <a:pt x="6195089" y="-67062"/>
                  <a:pt x="6529681" y="81751"/>
                  <a:pt x="6787289" y="0"/>
                </a:cubicBezTo>
                <a:cubicBezTo>
                  <a:pt x="7044897" y="-81751"/>
                  <a:pt x="7126603" y="16864"/>
                  <a:pt x="7270391" y="0"/>
                </a:cubicBezTo>
                <a:cubicBezTo>
                  <a:pt x="7414179" y="-16864"/>
                  <a:pt x="7640906" y="44929"/>
                  <a:pt x="7753494" y="0"/>
                </a:cubicBezTo>
                <a:cubicBezTo>
                  <a:pt x="7866082" y="-44929"/>
                  <a:pt x="8138328" y="27124"/>
                  <a:pt x="8463236" y="0"/>
                </a:cubicBezTo>
                <a:cubicBezTo>
                  <a:pt x="8788144" y="-27124"/>
                  <a:pt x="8826711" y="47225"/>
                  <a:pt x="8946339" y="0"/>
                </a:cubicBezTo>
                <a:cubicBezTo>
                  <a:pt x="9065967" y="-47225"/>
                  <a:pt x="9415714" y="71162"/>
                  <a:pt x="9769402" y="0"/>
                </a:cubicBezTo>
                <a:cubicBezTo>
                  <a:pt x="10123090" y="-71162"/>
                  <a:pt x="10349253" y="31449"/>
                  <a:pt x="10592465" y="0"/>
                </a:cubicBezTo>
                <a:cubicBezTo>
                  <a:pt x="10835677" y="-31449"/>
                  <a:pt x="11154801" y="85266"/>
                  <a:pt x="11332029" y="0"/>
                </a:cubicBezTo>
                <a:cubicBezTo>
                  <a:pt x="11339884" y="161079"/>
                  <a:pt x="11324689" y="386755"/>
                  <a:pt x="11332029" y="486047"/>
                </a:cubicBezTo>
                <a:cubicBezTo>
                  <a:pt x="11339369" y="585339"/>
                  <a:pt x="11309669" y="723604"/>
                  <a:pt x="11332029" y="920931"/>
                </a:cubicBezTo>
                <a:cubicBezTo>
                  <a:pt x="11354389" y="1118258"/>
                  <a:pt x="11318963" y="1277173"/>
                  <a:pt x="11332029" y="1381397"/>
                </a:cubicBezTo>
                <a:cubicBezTo>
                  <a:pt x="11345095" y="1485621"/>
                  <a:pt x="11283233" y="1800434"/>
                  <a:pt x="11332029" y="1918607"/>
                </a:cubicBezTo>
                <a:cubicBezTo>
                  <a:pt x="11380825" y="2036780"/>
                  <a:pt x="11282133" y="2395154"/>
                  <a:pt x="11332029" y="2558143"/>
                </a:cubicBezTo>
                <a:cubicBezTo>
                  <a:pt x="11254472" y="2576225"/>
                  <a:pt x="11059170" y="2524509"/>
                  <a:pt x="10962247" y="2558143"/>
                </a:cubicBezTo>
                <a:cubicBezTo>
                  <a:pt x="10865324" y="2591777"/>
                  <a:pt x="10791161" y="2552726"/>
                  <a:pt x="10705785" y="2558143"/>
                </a:cubicBezTo>
                <a:cubicBezTo>
                  <a:pt x="10620409" y="2563560"/>
                  <a:pt x="10518466" y="2556627"/>
                  <a:pt x="10449324" y="2558143"/>
                </a:cubicBezTo>
                <a:cubicBezTo>
                  <a:pt x="10380182" y="2559659"/>
                  <a:pt x="10007864" y="2487502"/>
                  <a:pt x="9852901" y="2558143"/>
                </a:cubicBezTo>
                <a:cubicBezTo>
                  <a:pt x="9697938" y="2628784"/>
                  <a:pt x="9631027" y="2536217"/>
                  <a:pt x="9483119" y="2558143"/>
                </a:cubicBezTo>
                <a:cubicBezTo>
                  <a:pt x="9335211" y="2580069"/>
                  <a:pt x="8970820" y="2484003"/>
                  <a:pt x="8773376" y="2558143"/>
                </a:cubicBezTo>
                <a:cubicBezTo>
                  <a:pt x="8575932" y="2632283"/>
                  <a:pt x="8561205" y="2544972"/>
                  <a:pt x="8403594" y="2558143"/>
                </a:cubicBezTo>
                <a:cubicBezTo>
                  <a:pt x="8245983" y="2571314"/>
                  <a:pt x="8042415" y="2547469"/>
                  <a:pt x="7693851" y="2558143"/>
                </a:cubicBezTo>
                <a:cubicBezTo>
                  <a:pt x="7345287" y="2568817"/>
                  <a:pt x="7533357" y="2555319"/>
                  <a:pt x="7437390" y="2558143"/>
                </a:cubicBezTo>
                <a:cubicBezTo>
                  <a:pt x="7341423" y="2560967"/>
                  <a:pt x="6874748" y="2507754"/>
                  <a:pt x="6727647" y="2558143"/>
                </a:cubicBezTo>
                <a:cubicBezTo>
                  <a:pt x="6580546" y="2608532"/>
                  <a:pt x="6477588" y="2519980"/>
                  <a:pt x="6357865" y="2558143"/>
                </a:cubicBezTo>
                <a:cubicBezTo>
                  <a:pt x="6238142" y="2596306"/>
                  <a:pt x="6200205" y="2537118"/>
                  <a:pt x="6101403" y="2558143"/>
                </a:cubicBezTo>
                <a:cubicBezTo>
                  <a:pt x="6002601" y="2579168"/>
                  <a:pt x="5807630" y="2556735"/>
                  <a:pt x="5731621" y="2558143"/>
                </a:cubicBezTo>
                <a:cubicBezTo>
                  <a:pt x="5655612" y="2559551"/>
                  <a:pt x="5233705" y="2534919"/>
                  <a:pt x="5021878" y="2558143"/>
                </a:cubicBezTo>
                <a:cubicBezTo>
                  <a:pt x="4810051" y="2581367"/>
                  <a:pt x="4772427" y="2540778"/>
                  <a:pt x="4652096" y="2558143"/>
                </a:cubicBezTo>
                <a:cubicBezTo>
                  <a:pt x="4531765" y="2575508"/>
                  <a:pt x="4462519" y="2546836"/>
                  <a:pt x="4395634" y="2558143"/>
                </a:cubicBezTo>
                <a:cubicBezTo>
                  <a:pt x="4328749" y="2569450"/>
                  <a:pt x="4149905" y="2523993"/>
                  <a:pt x="4025852" y="2558143"/>
                </a:cubicBezTo>
                <a:cubicBezTo>
                  <a:pt x="3901799" y="2592293"/>
                  <a:pt x="3773402" y="2530983"/>
                  <a:pt x="3542750" y="2558143"/>
                </a:cubicBezTo>
                <a:cubicBezTo>
                  <a:pt x="3312098" y="2585303"/>
                  <a:pt x="3141801" y="2529145"/>
                  <a:pt x="2946328" y="2558143"/>
                </a:cubicBezTo>
                <a:cubicBezTo>
                  <a:pt x="2750855" y="2587141"/>
                  <a:pt x="2694180" y="2521544"/>
                  <a:pt x="2576546" y="2558143"/>
                </a:cubicBezTo>
                <a:cubicBezTo>
                  <a:pt x="2458912" y="2594742"/>
                  <a:pt x="2022467" y="2521520"/>
                  <a:pt x="1753482" y="2558143"/>
                </a:cubicBezTo>
                <a:cubicBezTo>
                  <a:pt x="1484497" y="2594766"/>
                  <a:pt x="1357976" y="2514141"/>
                  <a:pt x="1157060" y="2558143"/>
                </a:cubicBezTo>
                <a:cubicBezTo>
                  <a:pt x="956144" y="2602145"/>
                  <a:pt x="320795" y="2502594"/>
                  <a:pt x="0" y="2558143"/>
                </a:cubicBezTo>
                <a:cubicBezTo>
                  <a:pt x="-37582" y="2411680"/>
                  <a:pt x="35647" y="2206580"/>
                  <a:pt x="0" y="2020933"/>
                </a:cubicBezTo>
                <a:cubicBezTo>
                  <a:pt x="-35647" y="1835286"/>
                  <a:pt x="12095" y="1631591"/>
                  <a:pt x="0" y="1509304"/>
                </a:cubicBezTo>
                <a:cubicBezTo>
                  <a:pt x="-12095" y="1387017"/>
                  <a:pt x="9121" y="1128372"/>
                  <a:pt x="0" y="1023257"/>
                </a:cubicBezTo>
                <a:cubicBezTo>
                  <a:pt x="-9121" y="918142"/>
                  <a:pt x="28743" y="661405"/>
                  <a:pt x="0" y="486047"/>
                </a:cubicBezTo>
                <a:cubicBezTo>
                  <a:pt x="-28743" y="310689"/>
                  <a:pt x="1358" y="108521"/>
                  <a:pt x="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75900"/>
            </a:schemeClr>
          </a:solidFill>
          <a:ln w="38100"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84B7A5-6337-37AF-7D5B-9D59CC25B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4661" y="689331"/>
            <a:ext cx="10319658" cy="2900518"/>
          </a:xfrm>
        </p:spPr>
        <p:txBody>
          <a:bodyPr>
            <a:norm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Gabriola" pitchFamily="82" charset="0"/>
              </a:rPr>
              <a:t>Near-Optimal Encodings of Cardinality Constraints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593683-8933-90DC-DAE9-6E0604C2EBB8}"/>
              </a:ext>
            </a:extLst>
          </p:cNvPr>
          <p:cNvSpPr/>
          <p:nvPr/>
        </p:nvSpPr>
        <p:spPr>
          <a:xfrm>
            <a:off x="-152400" y="4856960"/>
            <a:ext cx="12593782" cy="2220756"/>
          </a:xfrm>
          <a:prstGeom prst="rect">
            <a:avLst/>
          </a:prstGeom>
          <a:solidFill>
            <a:schemeClr val="tx2">
              <a:alpha val="5962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9F8273-D00A-BFC3-FD08-23DA3D300D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9715" y="4856960"/>
            <a:ext cx="10940140" cy="2220756"/>
          </a:xfrm>
        </p:spPr>
        <p:txBody>
          <a:bodyPr>
            <a:norm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Gabriola" pitchFamily="82" charset="0"/>
              </a:rPr>
              <a:t>Bernardo Subercaseaux (</a:t>
            </a:r>
            <a:r>
              <a:rPr lang="en-US" sz="6000" dirty="0" err="1">
                <a:solidFill>
                  <a:schemeClr val="bg2">
                    <a:lumMod val="75000"/>
                    <a:lumOff val="25000"/>
                  </a:schemeClr>
                </a:solidFill>
                <a:latin typeface="Gabriola" pitchFamily="82" charset="0"/>
              </a:rPr>
              <a:t>bersub@cmu.edu</a:t>
            </a:r>
            <a:r>
              <a:rPr lang="en-US" sz="6000" dirty="0">
                <a:solidFill>
                  <a:schemeClr val="bg1"/>
                </a:solidFill>
                <a:latin typeface="Gabriola" pitchFamily="82" charset="0"/>
              </a:rPr>
              <a:t>)</a:t>
            </a:r>
            <a:endParaRPr lang="en-US" sz="2800" dirty="0">
              <a:solidFill>
                <a:schemeClr val="bg1"/>
              </a:solidFill>
              <a:latin typeface="Gabriola" pitchFamily="82" charset="0"/>
            </a:endParaRPr>
          </a:p>
          <a:p>
            <a:r>
              <a:rPr lang="en-US" sz="3600" dirty="0">
                <a:solidFill>
                  <a:schemeClr val="bg1"/>
                </a:solidFill>
                <a:latin typeface="Gabriola" pitchFamily="82" charset="0"/>
              </a:rPr>
              <a:t>Joint work with Andrew Krapivin and Benjamin Przybocki</a:t>
            </a:r>
          </a:p>
        </p:txBody>
      </p:sp>
    </p:spTree>
    <p:extLst>
      <p:ext uri="{BB962C8B-B14F-4D97-AF65-F5344CB8AC3E}">
        <p14:creationId xmlns:p14="http://schemas.microsoft.com/office/powerpoint/2010/main" val="32697729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9C375E5-FF80-BDA6-9350-1A3D0C9538E1}"/>
              </a:ext>
            </a:extLst>
          </p:cNvPr>
          <p:cNvSpPr txBox="1">
            <a:spLocks/>
          </p:cNvSpPr>
          <p:nvPr/>
        </p:nvSpPr>
        <p:spPr>
          <a:xfrm>
            <a:off x="280201" y="3271866"/>
            <a:ext cx="3610635" cy="903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latin typeface="Gabriola" pitchFamily="82" charset="0"/>
              </a:rPr>
              <a:t>exactly one 7 per row</a:t>
            </a:r>
            <a:endParaRPr lang="en-US" sz="2800" dirty="0">
              <a:solidFill>
                <a:schemeClr val="accent2">
                  <a:lumMod val="75000"/>
                </a:schemeClr>
              </a:solidFill>
              <a:latin typeface="Gabriola" pitchFamily="82" charset="0"/>
            </a:endParaRPr>
          </a:p>
        </p:txBody>
      </p:sp>
      <p:pic>
        <p:nvPicPr>
          <p:cNvPr id="7" name="Picture 6" descr="Sudoku - Wikipedia">
            <a:extLst>
              <a:ext uri="{FF2B5EF4-FFF2-40B4-BE49-F238E27FC236}">
                <a16:creationId xmlns:a16="http://schemas.microsoft.com/office/drawing/2014/main" id="{06CD213E-2A8B-1D22-300B-EB5A35508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198" y="1626150"/>
            <a:ext cx="1695360" cy="169536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384C67C-21F4-9A1D-AEDC-FB4D45001C16}"/>
              </a:ext>
            </a:extLst>
          </p:cNvPr>
          <p:cNvSpPr txBox="1">
            <a:spLocks/>
          </p:cNvSpPr>
          <p:nvPr/>
        </p:nvSpPr>
        <p:spPr>
          <a:xfrm>
            <a:off x="651657" y="316553"/>
            <a:ext cx="10888684" cy="1181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dirty="0">
                <a:latin typeface="Gabriola" pitchFamily="82" charset="0"/>
              </a:rPr>
              <a:t>Cardinality constraints are </a:t>
            </a:r>
            <a:r>
              <a:rPr lang="en-US" sz="6600" b="1" dirty="0">
                <a:solidFill>
                  <a:schemeClr val="accent2">
                    <a:lumMod val="75000"/>
                  </a:schemeClr>
                </a:solidFill>
                <a:latin typeface="Gabriola" pitchFamily="82" charset="0"/>
              </a:rPr>
              <a:t>everywhere</a:t>
            </a:r>
            <a:r>
              <a:rPr lang="en-US" sz="6600" dirty="0">
                <a:solidFill>
                  <a:schemeClr val="accent2">
                    <a:lumMod val="75000"/>
                  </a:schemeClr>
                </a:solidFill>
                <a:latin typeface="Gabriola" pitchFamily="82" charset="0"/>
              </a:rPr>
              <a:t>!</a:t>
            </a:r>
          </a:p>
        </p:txBody>
      </p:sp>
      <p:pic>
        <p:nvPicPr>
          <p:cNvPr id="10" name="Picture 9" descr="5 Stylish Wedding Reception Table Design Ideas | Treasury on the Plaza">
            <a:extLst>
              <a:ext uri="{FF2B5EF4-FFF2-40B4-BE49-F238E27FC236}">
                <a16:creationId xmlns:a16="http://schemas.microsoft.com/office/drawing/2014/main" id="{CBE08793-A828-9F8A-9FCB-77CEBF90C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0066" y="1672026"/>
            <a:ext cx="2375286" cy="1582534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8F85DA3-2275-D0BA-25B3-C0D0C9B90B9C}"/>
              </a:ext>
            </a:extLst>
          </p:cNvPr>
          <p:cNvSpPr txBox="1">
            <a:spLocks/>
          </p:cNvSpPr>
          <p:nvPr/>
        </p:nvSpPr>
        <p:spPr>
          <a:xfrm>
            <a:off x="3812392" y="3254560"/>
            <a:ext cx="3610635" cy="903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latin typeface="Gabriola" pitchFamily="82" charset="0"/>
              </a:rPr>
              <a:t>at most 7 people per table</a:t>
            </a:r>
            <a:endParaRPr lang="en-US" sz="2800" dirty="0">
              <a:solidFill>
                <a:schemeClr val="accent2">
                  <a:lumMod val="75000"/>
                </a:schemeClr>
              </a:solidFill>
              <a:latin typeface="Gabriola" pitchFamily="82" charset="0"/>
            </a:endParaRPr>
          </a:p>
        </p:txBody>
      </p:sp>
      <p:pic>
        <p:nvPicPr>
          <p:cNvPr id="13" name="Picture 12" descr="EasyChair Smart Program Technology">
            <a:extLst>
              <a:ext uri="{FF2B5EF4-FFF2-40B4-BE49-F238E27FC236}">
                <a16:creationId xmlns:a16="http://schemas.microsoft.com/office/drawing/2014/main" id="{43C6032A-5377-9D65-F6B8-A43204AFA4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8295" y="1626150"/>
            <a:ext cx="2344872" cy="1016409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5BA61A32-0184-4B6A-E5AE-46EBD7B7D228}"/>
              </a:ext>
            </a:extLst>
          </p:cNvPr>
          <p:cNvSpPr txBox="1">
            <a:spLocks/>
          </p:cNvSpPr>
          <p:nvPr/>
        </p:nvSpPr>
        <p:spPr>
          <a:xfrm>
            <a:off x="7768295" y="3254559"/>
            <a:ext cx="3931631" cy="903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latin typeface="Gabriola" pitchFamily="82" charset="0"/>
              </a:rPr>
              <a:t>at least 3 reviewers per paper</a:t>
            </a:r>
            <a:endParaRPr lang="en-US" sz="2800" dirty="0">
              <a:solidFill>
                <a:schemeClr val="accent2">
                  <a:lumMod val="75000"/>
                </a:schemeClr>
              </a:solidFill>
              <a:latin typeface="Gabriola" pitchFamily="82" charset="0"/>
            </a:endParaRPr>
          </a:p>
        </p:txBody>
      </p:sp>
      <p:pic>
        <p:nvPicPr>
          <p:cNvPr id="15" name="Graphic 14" descr="Hamiltonian path - Simple English Wikipedia, the free encyclopedia">
            <a:extLst>
              <a:ext uri="{FF2B5EF4-FFF2-40B4-BE49-F238E27FC236}">
                <a16:creationId xmlns:a16="http://schemas.microsoft.com/office/drawing/2014/main" id="{B8755C6E-7552-FEAC-9112-D9BB0D8757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86527" y="4193115"/>
            <a:ext cx="1961482" cy="1877896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C15FA6FB-A55E-9D75-49B5-3133E50D3913}"/>
              </a:ext>
            </a:extLst>
          </p:cNvPr>
          <p:cNvSpPr txBox="1">
            <a:spLocks/>
          </p:cNvSpPr>
          <p:nvPr/>
        </p:nvSpPr>
        <p:spPr>
          <a:xfrm>
            <a:off x="1660792" y="5915477"/>
            <a:ext cx="3610635" cy="903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latin typeface="Gabriola" pitchFamily="82" charset="0"/>
              </a:rPr>
              <a:t>exactly two edges per vertex</a:t>
            </a:r>
            <a:endParaRPr lang="en-US" sz="2800" dirty="0">
              <a:solidFill>
                <a:schemeClr val="accent2">
                  <a:lumMod val="75000"/>
                </a:schemeClr>
              </a:solidFill>
              <a:latin typeface="Gabriola" pitchFamily="82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00A359A-8DAF-37B7-5DC1-57DDE38D24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795283">
            <a:off x="8389918" y="2377194"/>
            <a:ext cx="3067617" cy="787858"/>
          </a:xfrm>
          <a:prstGeom prst="rect">
            <a:avLst/>
          </a:prstGeom>
        </p:spPr>
      </p:pic>
      <p:pic>
        <p:nvPicPr>
          <p:cNvPr id="19" name="Picture 18" descr="Maximum capacity 1,134 @KGArea21 seems like a lot for an elevator">
            <a:extLst>
              <a:ext uri="{FF2B5EF4-FFF2-40B4-BE49-F238E27FC236}">
                <a16:creationId xmlns:a16="http://schemas.microsoft.com/office/drawing/2014/main" id="{0CA41BF6-ED2D-C231-1E0C-67DA0B4B8E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20575" y="4314572"/>
            <a:ext cx="2179974" cy="1634981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0F43F58C-BAC0-4399-3865-FB8FB6948442}"/>
              </a:ext>
            </a:extLst>
          </p:cNvPr>
          <p:cNvSpPr txBox="1">
            <a:spLocks/>
          </p:cNvSpPr>
          <p:nvPr/>
        </p:nvSpPr>
        <p:spPr>
          <a:xfrm>
            <a:off x="6123475" y="5920225"/>
            <a:ext cx="4135647" cy="903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latin typeface="Gabriola" pitchFamily="82" charset="0"/>
              </a:rPr>
              <a:t>at most </a:t>
            </a:r>
            <a:r>
              <a:rPr lang="en-US" sz="2800" b="1" dirty="0">
                <a:latin typeface="Gabriola" pitchFamily="82" charset="0"/>
              </a:rPr>
              <a:t>K </a:t>
            </a:r>
            <a:r>
              <a:rPr lang="en-US" sz="2800" dirty="0">
                <a:latin typeface="Gabriola" pitchFamily="82" charset="0"/>
              </a:rPr>
              <a:t>as an approximation/redundant</a:t>
            </a:r>
            <a:endParaRPr lang="en-US" sz="2800" dirty="0">
              <a:solidFill>
                <a:schemeClr val="accent2">
                  <a:lumMod val="75000"/>
                </a:schemeClr>
              </a:solidFill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3752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116725F-6748-8F1F-9399-AE5269D93604}"/>
              </a:ext>
            </a:extLst>
          </p:cNvPr>
          <p:cNvSpPr/>
          <p:nvPr/>
        </p:nvSpPr>
        <p:spPr>
          <a:xfrm>
            <a:off x="7279240" y="1873558"/>
            <a:ext cx="4248942" cy="1996068"/>
          </a:xfrm>
          <a:custGeom>
            <a:avLst/>
            <a:gdLst>
              <a:gd name="csX0" fmla="*/ 0 w 4248942"/>
              <a:gd name="csY0" fmla="*/ 0 h 1996068"/>
              <a:gd name="csX1" fmla="*/ 488628 w 4248942"/>
              <a:gd name="csY1" fmla="*/ 0 h 1996068"/>
              <a:gd name="csX2" fmla="*/ 1019746 w 4248942"/>
              <a:gd name="csY2" fmla="*/ 0 h 1996068"/>
              <a:gd name="csX3" fmla="*/ 1635843 w 4248942"/>
              <a:gd name="csY3" fmla="*/ 0 h 1996068"/>
              <a:gd name="csX4" fmla="*/ 2209450 w 4248942"/>
              <a:gd name="csY4" fmla="*/ 0 h 1996068"/>
              <a:gd name="csX5" fmla="*/ 2613099 w 4248942"/>
              <a:gd name="csY5" fmla="*/ 0 h 1996068"/>
              <a:gd name="csX6" fmla="*/ 3101728 w 4248942"/>
              <a:gd name="csY6" fmla="*/ 0 h 1996068"/>
              <a:gd name="csX7" fmla="*/ 3717824 w 4248942"/>
              <a:gd name="csY7" fmla="*/ 0 h 1996068"/>
              <a:gd name="csX8" fmla="*/ 4248942 w 4248942"/>
              <a:gd name="csY8" fmla="*/ 0 h 1996068"/>
              <a:gd name="csX9" fmla="*/ 4248942 w 4248942"/>
              <a:gd name="csY9" fmla="*/ 518978 h 1996068"/>
              <a:gd name="csX10" fmla="*/ 4248942 w 4248942"/>
              <a:gd name="csY10" fmla="*/ 958113 h 1996068"/>
              <a:gd name="csX11" fmla="*/ 4248942 w 4248942"/>
              <a:gd name="csY11" fmla="*/ 1417208 h 1996068"/>
              <a:gd name="csX12" fmla="*/ 4248942 w 4248942"/>
              <a:gd name="csY12" fmla="*/ 1996068 h 1996068"/>
              <a:gd name="csX13" fmla="*/ 3802803 w 4248942"/>
              <a:gd name="csY13" fmla="*/ 1996068 h 1996068"/>
              <a:gd name="csX14" fmla="*/ 3399154 w 4248942"/>
              <a:gd name="csY14" fmla="*/ 1996068 h 1996068"/>
              <a:gd name="csX15" fmla="*/ 2995504 w 4248942"/>
              <a:gd name="csY15" fmla="*/ 1996068 h 1996068"/>
              <a:gd name="csX16" fmla="*/ 2421897 w 4248942"/>
              <a:gd name="csY16" fmla="*/ 1996068 h 1996068"/>
              <a:gd name="csX17" fmla="*/ 2018247 w 4248942"/>
              <a:gd name="csY17" fmla="*/ 1996068 h 1996068"/>
              <a:gd name="csX18" fmla="*/ 1487130 w 4248942"/>
              <a:gd name="csY18" fmla="*/ 1996068 h 1996068"/>
              <a:gd name="csX19" fmla="*/ 1040991 w 4248942"/>
              <a:gd name="csY19" fmla="*/ 1996068 h 1996068"/>
              <a:gd name="csX20" fmla="*/ 509873 w 4248942"/>
              <a:gd name="csY20" fmla="*/ 1996068 h 1996068"/>
              <a:gd name="csX21" fmla="*/ 0 w 4248942"/>
              <a:gd name="csY21" fmla="*/ 1996068 h 1996068"/>
              <a:gd name="csX22" fmla="*/ 0 w 4248942"/>
              <a:gd name="csY22" fmla="*/ 1497051 h 1996068"/>
              <a:gd name="csX23" fmla="*/ 0 w 4248942"/>
              <a:gd name="csY23" fmla="*/ 1017995 h 1996068"/>
              <a:gd name="csX24" fmla="*/ 0 w 4248942"/>
              <a:gd name="csY24" fmla="*/ 538938 h 1996068"/>
              <a:gd name="csX25" fmla="*/ 0 w 4248942"/>
              <a:gd name="csY25" fmla="*/ 0 h 1996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4248942" h="1996068" fill="none" extrusionOk="0">
                <a:moveTo>
                  <a:pt x="0" y="0"/>
                </a:moveTo>
                <a:cubicBezTo>
                  <a:pt x="139024" y="-40662"/>
                  <a:pt x="383292" y="4764"/>
                  <a:pt x="488628" y="0"/>
                </a:cubicBezTo>
                <a:cubicBezTo>
                  <a:pt x="593964" y="-4764"/>
                  <a:pt x="758048" y="55582"/>
                  <a:pt x="1019746" y="0"/>
                </a:cubicBezTo>
                <a:cubicBezTo>
                  <a:pt x="1281444" y="-55582"/>
                  <a:pt x="1451514" y="47730"/>
                  <a:pt x="1635843" y="0"/>
                </a:cubicBezTo>
                <a:cubicBezTo>
                  <a:pt x="1820172" y="-47730"/>
                  <a:pt x="2086257" y="2189"/>
                  <a:pt x="2209450" y="0"/>
                </a:cubicBezTo>
                <a:cubicBezTo>
                  <a:pt x="2332643" y="-2189"/>
                  <a:pt x="2450463" y="22409"/>
                  <a:pt x="2613099" y="0"/>
                </a:cubicBezTo>
                <a:cubicBezTo>
                  <a:pt x="2775735" y="-22409"/>
                  <a:pt x="2909995" y="27667"/>
                  <a:pt x="3101728" y="0"/>
                </a:cubicBezTo>
                <a:cubicBezTo>
                  <a:pt x="3293461" y="-27667"/>
                  <a:pt x="3586067" y="73276"/>
                  <a:pt x="3717824" y="0"/>
                </a:cubicBezTo>
                <a:cubicBezTo>
                  <a:pt x="3849581" y="-73276"/>
                  <a:pt x="4088245" y="27995"/>
                  <a:pt x="4248942" y="0"/>
                </a:cubicBezTo>
                <a:cubicBezTo>
                  <a:pt x="4265735" y="132509"/>
                  <a:pt x="4217681" y="394841"/>
                  <a:pt x="4248942" y="518978"/>
                </a:cubicBezTo>
                <a:cubicBezTo>
                  <a:pt x="4280203" y="643115"/>
                  <a:pt x="4208106" y="858727"/>
                  <a:pt x="4248942" y="958113"/>
                </a:cubicBezTo>
                <a:cubicBezTo>
                  <a:pt x="4289778" y="1057500"/>
                  <a:pt x="4205112" y="1289893"/>
                  <a:pt x="4248942" y="1417208"/>
                </a:cubicBezTo>
                <a:cubicBezTo>
                  <a:pt x="4292772" y="1544524"/>
                  <a:pt x="4202358" y="1831911"/>
                  <a:pt x="4248942" y="1996068"/>
                </a:cubicBezTo>
                <a:cubicBezTo>
                  <a:pt x="4111885" y="1999336"/>
                  <a:pt x="4025102" y="1959036"/>
                  <a:pt x="3802803" y="1996068"/>
                </a:cubicBezTo>
                <a:cubicBezTo>
                  <a:pt x="3580504" y="2033100"/>
                  <a:pt x="3535038" y="1956229"/>
                  <a:pt x="3399154" y="1996068"/>
                </a:cubicBezTo>
                <a:cubicBezTo>
                  <a:pt x="3263270" y="2035907"/>
                  <a:pt x="3161471" y="1949522"/>
                  <a:pt x="2995504" y="1996068"/>
                </a:cubicBezTo>
                <a:cubicBezTo>
                  <a:pt x="2829537" y="2042614"/>
                  <a:pt x="2643560" y="1967653"/>
                  <a:pt x="2421897" y="1996068"/>
                </a:cubicBezTo>
                <a:cubicBezTo>
                  <a:pt x="2200234" y="2024483"/>
                  <a:pt x="2121683" y="1979040"/>
                  <a:pt x="2018247" y="1996068"/>
                </a:cubicBezTo>
                <a:cubicBezTo>
                  <a:pt x="1914811" y="2013096"/>
                  <a:pt x="1745578" y="1952001"/>
                  <a:pt x="1487130" y="1996068"/>
                </a:cubicBezTo>
                <a:cubicBezTo>
                  <a:pt x="1228682" y="2040135"/>
                  <a:pt x="1198962" y="1973079"/>
                  <a:pt x="1040991" y="1996068"/>
                </a:cubicBezTo>
                <a:cubicBezTo>
                  <a:pt x="883020" y="2019057"/>
                  <a:pt x="690550" y="1987061"/>
                  <a:pt x="509873" y="1996068"/>
                </a:cubicBezTo>
                <a:cubicBezTo>
                  <a:pt x="329196" y="2005075"/>
                  <a:pt x="197608" y="1988685"/>
                  <a:pt x="0" y="1996068"/>
                </a:cubicBezTo>
                <a:cubicBezTo>
                  <a:pt x="-27759" y="1870069"/>
                  <a:pt x="45668" y="1676954"/>
                  <a:pt x="0" y="1497051"/>
                </a:cubicBezTo>
                <a:cubicBezTo>
                  <a:pt x="-45668" y="1317148"/>
                  <a:pt x="37146" y="1241240"/>
                  <a:pt x="0" y="1017995"/>
                </a:cubicBezTo>
                <a:cubicBezTo>
                  <a:pt x="-37146" y="794750"/>
                  <a:pt x="29778" y="654973"/>
                  <a:pt x="0" y="538938"/>
                </a:cubicBezTo>
                <a:cubicBezTo>
                  <a:pt x="-29778" y="422903"/>
                  <a:pt x="64094" y="116161"/>
                  <a:pt x="0" y="0"/>
                </a:cubicBezTo>
                <a:close/>
              </a:path>
              <a:path w="4248942" h="1996068" stroke="0" extrusionOk="0">
                <a:moveTo>
                  <a:pt x="0" y="0"/>
                </a:moveTo>
                <a:cubicBezTo>
                  <a:pt x="223987" y="-31863"/>
                  <a:pt x="389939" y="20063"/>
                  <a:pt x="488628" y="0"/>
                </a:cubicBezTo>
                <a:cubicBezTo>
                  <a:pt x="587317" y="-20063"/>
                  <a:pt x="744524" y="27239"/>
                  <a:pt x="892278" y="0"/>
                </a:cubicBezTo>
                <a:cubicBezTo>
                  <a:pt x="1040032" y="-27239"/>
                  <a:pt x="1340152" y="25023"/>
                  <a:pt x="1508374" y="0"/>
                </a:cubicBezTo>
                <a:cubicBezTo>
                  <a:pt x="1676596" y="-25023"/>
                  <a:pt x="1882757" y="18156"/>
                  <a:pt x="1997003" y="0"/>
                </a:cubicBezTo>
                <a:cubicBezTo>
                  <a:pt x="2111249" y="-18156"/>
                  <a:pt x="2330487" y="15992"/>
                  <a:pt x="2485631" y="0"/>
                </a:cubicBezTo>
                <a:cubicBezTo>
                  <a:pt x="2640775" y="-15992"/>
                  <a:pt x="2957016" y="10110"/>
                  <a:pt x="3101728" y="0"/>
                </a:cubicBezTo>
                <a:cubicBezTo>
                  <a:pt x="3246440" y="-10110"/>
                  <a:pt x="3452781" y="44871"/>
                  <a:pt x="3547867" y="0"/>
                </a:cubicBezTo>
                <a:cubicBezTo>
                  <a:pt x="3642953" y="-44871"/>
                  <a:pt x="3954488" y="9084"/>
                  <a:pt x="4248942" y="0"/>
                </a:cubicBezTo>
                <a:cubicBezTo>
                  <a:pt x="4277090" y="205326"/>
                  <a:pt x="4224395" y="410251"/>
                  <a:pt x="4248942" y="538938"/>
                </a:cubicBezTo>
                <a:cubicBezTo>
                  <a:pt x="4273489" y="667625"/>
                  <a:pt x="4247801" y="796179"/>
                  <a:pt x="4248942" y="998034"/>
                </a:cubicBezTo>
                <a:cubicBezTo>
                  <a:pt x="4250083" y="1199889"/>
                  <a:pt x="4201550" y="1274608"/>
                  <a:pt x="4248942" y="1497051"/>
                </a:cubicBezTo>
                <a:cubicBezTo>
                  <a:pt x="4296334" y="1719494"/>
                  <a:pt x="4203157" y="1821489"/>
                  <a:pt x="4248942" y="1996068"/>
                </a:cubicBezTo>
                <a:cubicBezTo>
                  <a:pt x="4135454" y="2020242"/>
                  <a:pt x="3960865" y="1954738"/>
                  <a:pt x="3845293" y="1996068"/>
                </a:cubicBezTo>
                <a:cubicBezTo>
                  <a:pt x="3729721" y="2037398"/>
                  <a:pt x="3514990" y="1983868"/>
                  <a:pt x="3229196" y="1996068"/>
                </a:cubicBezTo>
                <a:cubicBezTo>
                  <a:pt x="2943402" y="2008268"/>
                  <a:pt x="2909299" y="1984423"/>
                  <a:pt x="2783057" y="1996068"/>
                </a:cubicBezTo>
                <a:cubicBezTo>
                  <a:pt x="2656815" y="2007713"/>
                  <a:pt x="2407311" y="1990719"/>
                  <a:pt x="2251939" y="1996068"/>
                </a:cubicBezTo>
                <a:cubicBezTo>
                  <a:pt x="2096567" y="2001417"/>
                  <a:pt x="1912397" y="1922897"/>
                  <a:pt x="1635843" y="1996068"/>
                </a:cubicBezTo>
                <a:cubicBezTo>
                  <a:pt x="1359289" y="2069239"/>
                  <a:pt x="1348053" y="1982925"/>
                  <a:pt x="1104725" y="1996068"/>
                </a:cubicBezTo>
                <a:cubicBezTo>
                  <a:pt x="861397" y="2009211"/>
                  <a:pt x="832292" y="1953065"/>
                  <a:pt x="701075" y="1996068"/>
                </a:cubicBezTo>
                <a:cubicBezTo>
                  <a:pt x="569858" y="2039071"/>
                  <a:pt x="147318" y="1974266"/>
                  <a:pt x="0" y="1996068"/>
                </a:cubicBezTo>
                <a:cubicBezTo>
                  <a:pt x="-53428" y="1745243"/>
                  <a:pt x="41408" y="1705417"/>
                  <a:pt x="0" y="1457130"/>
                </a:cubicBezTo>
                <a:cubicBezTo>
                  <a:pt x="-41408" y="1208843"/>
                  <a:pt x="27049" y="1043841"/>
                  <a:pt x="0" y="918191"/>
                </a:cubicBezTo>
                <a:cubicBezTo>
                  <a:pt x="-27049" y="792541"/>
                  <a:pt x="106335" y="204816"/>
                  <a:pt x="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10A189-C689-EA74-8D41-96C5EA9855C0}"/>
              </a:ext>
            </a:extLst>
          </p:cNvPr>
          <p:cNvSpPr/>
          <p:nvPr/>
        </p:nvSpPr>
        <p:spPr>
          <a:xfrm>
            <a:off x="651657" y="1873558"/>
            <a:ext cx="3021981" cy="1996068"/>
          </a:xfrm>
          <a:custGeom>
            <a:avLst/>
            <a:gdLst>
              <a:gd name="csX0" fmla="*/ 0 w 3021981"/>
              <a:gd name="csY0" fmla="*/ 0 h 1996068"/>
              <a:gd name="csX1" fmla="*/ 473444 w 3021981"/>
              <a:gd name="csY1" fmla="*/ 0 h 1996068"/>
              <a:gd name="csX2" fmla="*/ 916668 w 3021981"/>
              <a:gd name="csY2" fmla="*/ 0 h 1996068"/>
              <a:gd name="csX3" fmla="*/ 1450551 w 3021981"/>
              <a:gd name="csY3" fmla="*/ 0 h 1996068"/>
              <a:gd name="csX4" fmla="*/ 1954214 w 3021981"/>
              <a:gd name="csY4" fmla="*/ 0 h 1996068"/>
              <a:gd name="csX5" fmla="*/ 2457878 w 3021981"/>
              <a:gd name="csY5" fmla="*/ 0 h 1996068"/>
              <a:gd name="csX6" fmla="*/ 3021981 w 3021981"/>
              <a:gd name="csY6" fmla="*/ 0 h 1996068"/>
              <a:gd name="csX7" fmla="*/ 3021981 w 3021981"/>
              <a:gd name="csY7" fmla="*/ 518978 h 1996068"/>
              <a:gd name="csX8" fmla="*/ 3021981 w 3021981"/>
              <a:gd name="csY8" fmla="*/ 978073 h 1996068"/>
              <a:gd name="csX9" fmla="*/ 3021981 w 3021981"/>
              <a:gd name="csY9" fmla="*/ 1497051 h 1996068"/>
              <a:gd name="csX10" fmla="*/ 3021981 w 3021981"/>
              <a:gd name="csY10" fmla="*/ 1996068 h 1996068"/>
              <a:gd name="csX11" fmla="*/ 2488098 w 3021981"/>
              <a:gd name="csY11" fmla="*/ 1996068 h 1996068"/>
              <a:gd name="csX12" fmla="*/ 1954214 w 3021981"/>
              <a:gd name="csY12" fmla="*/ 1996068 h 1996068"/>
              <a:gd name="csX13" fmla="*/ 1390111 w 3021981"/>
              <a:gd name="csY13" fmla="*/ 1996068 h 1996068"/>
              <a:gd name="csX14" fmla="*/ 916668 w 3021981"/>
              <a:gd name="csY14" fmla="*/ 1996068 h 1996068"/>
              <a:gd name="csX15" fmla="*/ 0 w 3021981"/>
              <a:gd name="csY15" fmla="*/ 1996068 h 1996068"/>
              <a:gd name="csX16" fmla="*/ 0 w 3021981"/>
              <a:gd name="csY16" fmla="*/ 1536972 h 1996068"/>
              <a:gd name="csX17" fmla="*/ 0 w 3021981"/>
              <a:gd name="csY17" fmla="*/ 1037955 h 1996068"/>
              <a:gd name="csX18" fmla="*/ 0 w 3021981"/>
              <a:gd name="csY18" fmla="*/ 518978 h 1996068"/>
              <a:gd name="csX19" fmla="*/ 0 w 3021981"/>
              <a:gd name="csY19" fmla="*/ 0 h 1996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3021981" h="1996068" fill="none" extrusionOk="0">
                <a:moveTo>
                  <a:pt x="0" y="0"/>
                </a:moveTo>
                <a:cubicBezTo>
                  <a:pt x="123017" y="-25800"/>
                  <a:pt x="359193" y="43541"/>
                  <a:pt x="473444" y="0"/>
                </a:cubicBezTo>
                <a:cubicBezTo>
                  <a:pt x="587695" y="-43541"/>
                  <a:pt x="750039" y="33254"/>
                  <a:pt x="916668" y="0"/>
                </a:cubicBezTo>
                <a:cubicBezTo>
                  <a:pt x="1083297" y="-33254"/>
                  <a:pt x="1278893" y="29771"/>
                  <a:pt x="1450551" y="0"/>
                </a:cubicBezTo>
                <a:cubicBezTo>
                  <a:pt x="1622209" y="-29771"/>
                  <a:pt x="1817488" y="39571"/>
                  <a:pt x="1954214" y="0"/>
                </a:cubicBezTo>
                <a:cubicBezTo>
                  <a:pt x="2090940" y="-39571"/>
                  <a:pt x="2239390" y="25836"/>
                  <a:pt x="2457878" y="0"/>
                </a:cubicBezTo>
                <a:cubicBezTo>
                  <a:pt x="2676366" y="-25836"/>
                  <a:pt x="2827070" y="53294"/>
                  <a:pt x="3021981" y="0"/>
                </a:cubicBezTo>
                <a:cubicBezTo>
                  <a:pt x="3062843" y="242356"/>
                  <a:pt x="2985691" y="391280"/>
                  <a:pt x="3021981" y="518978"/>
                </a:cubicBezTo>
                <a:cubicBezTo>
                  <a:pt x="3058271" y="646676"/>
                  <a:pt x="2997297" y="766669"/>
                  <a:pt x="3021981" y="978073"/>
                </a:cubicBezTo>
                <a:cubicBezTo>
                  <a:pt x="3046665" y="1189477"/>
                  <a:pt x="2980518" y="1299751"/>
                  <a:pt x="3021981" y="1497051"/>
                </a:cubicBezTo>
                <a:cubicBezTo>
                  <a:pt x="3063444" y="1694351"/>
                  <a:pt x="2971324" y="1805253"/>
                  <a:pt x="3021981" y="1996068"/>
                </a:cubicBezTo>
                <a:cubicBezTo>
                  <a:pt x="2893235" y="2052128"/>
                  <a:pt x="2716313" y="1940516"/>
                  <a:pt x="2488098" y="1996068"/>
                </a:cubicBezTo>
                <a:cubicBezTo>
                  <a:pt x="2259883" y="2051620"/>
                  <a:pt x="2207275" y="1965654"/>
                  <a:pt x="1954214" y="1996068"/>
                </a:cubicBezTo>
                <a:cubicBezTo>
                  <a:pt x="1701153" y="2026482"/>
                  <a:pt x="1559178" y="1938068"/>
                  <a:pt x="1390111" y="1996068"/>
                </a:cubicBezTo>
                <a:cubicBezTo>
                  <a:pt x="1221044" y="2054068"/>
                  <a:pt x="1085012" y="1943739"/>
                  <a:pt x="916668" y="1996068"/>
                </a:cubicBezTo>
                <a:cubicBezTo>
                  <a:pt x="748324" y="2048397"/>
                  <a:pt x="329653" y="1993694"/>
                  <a:pt x="0" y="1996068"/>
                </a:cubicBezTo>
                <a:cubicBezTo>
                  <a:pt x="-31503" y="1815941"/>
                  <a:pt x="25929" y="1738058"/>
                  <a:pt x="0" y="1536972"/>
                </a:cubicBezTo>
                <a:cubicBezTo>
                  <a:pt x="-25929" y="1335886"/>
                  <a:pt x="52600" y="1233355"/>
                  <a:pt x="0" y="1037955"/>
                </a:cubicBezTo>
                <a:cubicBezTo>
                  <a:pt x="-52600" y="842555"/>
                  <a:pt x="46162" y="662597"/>
                  <a:pt x="0" y="518978"/>
                </a:cubicBezTo>
                <a:cubicBezTo>
                  <a:pt x="-46162" y="375359"/>
                  <a:pt x="56682" y="173417"/>
                  <a:pt x="0" y="0"/>
                </a:cubicBezTo>
                <a:close/>
              </a:path>
              <a:path w="3021981" h="1996068" stroke="0" extrusionOk="0">
                <a:moveTo>
                  <a:pt x="0" y="0"/>
                </a:moveTo>
                <a:cubicBezTo>
                  <a:pt x="214921" y="-37305"/>
                  <a:pt x="245059" y="1331"/>
                  <a:pt x="473444" y="0"/>
                </a:cubicBezTo>
                <a:cubicBezTo>
                  <a:pt x="701829" y="-1331"/>
                  <a:pt x="777956" y="36744"/>
                  <a:pt x="886448" y="0"/>
                </a:cubicBezTo>
                <a:cubicBezTo>
                  <a:pt x="994940" y="-36744"/>
                  <a:pt x="1181364" y="53182"/>
                  <a:pt x="1450551" y="0"/>
                </a:cubicBezTo>
                <a:cubicBezTo>
                  <a:pt x="1719738" y="-53182"/>
                  <a:pt x="1688580" y="8916"/>
                  <a:pt x="1923995" y="0"/>
                </a:cubicBezTo>
                <a:cubicBezTo>
                  <a:pt x="2159410" y="-8916"/>
                  <a:pt x="2172462" y="53518"/>
                  <a:pt x="2397438" y="0"/>
                </a:cubicBezTo>
                <a:cubicBezTo>
                  <a:pt x="2622414" y="-53518"/>
                  <a:pt x="2829685" y="47351"/>
                  <a:pt x="3021981" y="0"/>
                </a:cubicBezTo>
                <a:cubicBezTo>
                  <a:pt x="3035254" y="207748"/>
                  <a:pt x="2994933" y="298936"/>
                  <a:pt x="3021981" y="459096"/>
                </a:cubicBezTo>
                <a:cubicBezTo>
                  <a:pt x="3049029" y="619256"/>
                  <a:pt x="2965091" y="725688"/>
                  <a:pt x="3021981" y="958113"/>
                </a:cubicBezTo>
                <a:cubicBezTo>
                  <a:pt x="3078871" y="1190538"/>
                  <a:pt x="3012381" y="1322057"/>
                  <a:pt x="3021981" y="1417208"/>
                </a:cubicBezTo>
                <a:cubicBezTo>
                  <a:pt x="3031581" y="1512359"/>
                  <a:pt x="2986535" y="1778018"/>
                  <a:pt x="3021981" y="1996068"/>
                </a:cubicBezTo>
                <a:cubicBezTo>
                  <a:pt x="2792752" y="2038901"/>
                  <a:pt x="2691822" y="1979939"/>
                  <a:pt x="2518318" y="1996068"/>
                </a:cubicBezTo>
                <a:cubicBezTo>
                  <a:pt x="2344814" y="2012197"/>
                  <a:pt x="2201250" y="1974930"/>
                  <a:pt x="2044874" y="1996068"/>
                </a:cubicBezTo>
                <a:cubicBezTo>
                  <a:pt x="1888498" y="2017206"/>
                  <a:pt x="1646385" y="1943092"/>
                  <a:pt x="1480771" y="1996068"/>
                </a:cubicBezTo>
                <a:cubicBezTo>
                  <a:pt x="1315157" y="2049044"/>
                  <a:pt x="1146572" y="1929318"/>
                  <a:pt x="916668" y="1996068"/>
                </a:cubicBezTo>
                <a:cubicBezTo>
                  <a:pt x="686764" y="2062818"/>
                  <a:pt x="617992" y="1978274"/>
                  <a:pt x="473444" y="1996068"/>
                </a:cubicBezTo>
                <a:cubicBezTo>
                  <a:pt x="328896" y="2013862"/>
                  <a:pt x="198669" y="1946115"/>
                  <a:pt x="0" y="1996068"/>
                </a:cubicBezTo>
                <a:cubicBezTo>
                  <a:pt x="-56370" y="1815902"/>
                  <a:pt x="17005" y="1707912"/>
                  <a:pt x="0" y="1457130"/>
                </a:cubicBezTo>
                <a:cubicBezTo>
                  <a:pt x="-17005" y="1206348"/>
                  <a:pt x="46774" y="1224422"/>
                  <a:pt x="0" y="1017995"/>
                </a:cubicBezTo>
                <a:cubicBezTo>
                  <a:pt x="-46774" y="811569"/>
                  <a:pt x="37959" y="681245"/>
                  <a:pt x="0" y="558899"/>
                </a:cubicBezTo>
                <a:cubicBezTo>
                  <a:pt x="-37959" y="436553"/>
                  <a:pt x="7460" y="270881"/>
                  <a:pt x="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AFAF937-7FEE-2FB4-F5DD-BDECE55C0D41}"/>
              </a:ext>
            </a:extLst>
          </p:cNvPr>
          <p:cNvSpPr txBox="1">
            <a:spLocks/>
          </p:cNvSpPr>
          <p:nvPr/>
        </p:nvSpPr>
        <p:spPr>
          <a:xfrm>
            <a:off x="651657" y="330408"/>
            <a:ext cx="10888684" cy="1181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b="1" dirty="0">
                <a:solidFill>
                  <a:schemeClr val="accent2">
                    <a:lumMod val="75000"/>
                  </a:schemeClr>
                </a:solidFill>
                <a:latin typeface="Gabriola" pitchFamily="82" charset="0"/>
              </a:rPr>
              <a:t>Why</a:t>
            </a:r>
            <a:r>
              <a:rPr lang="en-US" sz="6600" dirty="0">
                <a:latin typeface="Gabriola" pitchFamily="82" charset="0"/>
              </a:rPr>
              <a:t> encode cardinality constraints?</a:t>
            </a:r>
            <a:endParaRPr lang="en-US" sz="6600" dirty="0">
              <a:solidFill>
                <a:schemeClr val="accent2">
                  <a:lumMod val="75000"/>
                </a:schemeClr>
              </a:solidFill>
              <a:latin typeface="Gabriola" pitchFamily="82" charset="0"/>
            </a:endParaRP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F0FF0CAB-8A32-6AEF-A1D3-34B11F5C21ED}"/>
              </a:ext>
            </a:extLst>
          </p:cNvPr>
          <p:cNvSpPr/>
          <p:nvPr/>
        </p:nvSpPr>
        <p:spPr>
          <a:xfrm>
            <a:off x="3980986" y="2386361"/>
            <a:ext cx="3021982" cy="825190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1BB7C5-4B4F-46F2-E0B1-7ADCB4934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9561" y="2005967"/>
            <a:ext cx="3705595" cy="17258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D65803-C59A-6525-8A93-64A593E60E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734" y="2233106"/>
            <a:ext cx="1715825" cy="1271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967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B2E63-F792-4A6C-9ED9-CD0C705BE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BAC5D02-530E-65F2-5D0B-4AA946DF3674}"/>
              </a:ext>
            </a:extLst>
          </p:cNvPr>
          <p:cNvSpPr txBox="1">
            <a:spLocks/>
          </p:cNvSpPr>
          <p:nvPr/>
        </p:nvSpPr>
        <p:spPr>
          <a:xfrm>
            <a:off x="651655" y="344492"/>
            <a:ext cx="10888684" cy="1181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b="1" dirty="0">
                <a:solidFill>
                  <a:schemeClr val="accent2">
                    <a:lumMod val="75000"/>
                  </a:schemeClr>
                </a:solidFill>
                <a:latin typeface="Gabriola" pitchFamily="82" charset="0"/>
              </a:rPr>
              <a:t>Why</a:t>
            </a:r>
            <a:r>
              <a:rPr lang="en-US" sz="6600" dirty="0">
                <a:latin typeface="Gabriola" pitchFamily="82" charset="0"/>
              </a:rPr>
              <a:t> encode cardinality constraints?</a:t>
            </a:r>
            <a:endParaRPr lang="en-US" sz="6600" dirty="0">
              <a:solidFill>
                <a:schemeClr val="accent2">
                  <a:lumMod val="75000"/>
                </a:schemeClr>
              </a:solidFill>
              <a:latin typeface="Gabriola" pitchFamily="8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407A666-3641-CAAA-4614-455FD9940D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8083" b="-3657"/>
          <a:stretch>
            <a:fillRect/>
          </a:stretch>
        </p:blipFill>
        <p:spPr>
          <a:xfrm>
            <a:off x="1280800" y="2962458"/>
            <a:ext cx="9630391" cy="3251958"/>
          </a:xfrm>
          <a:custGeom>
            <a:avLst/>
            <a:gdLst>
              <a:gd name="csX0" fmla="*/ 0 w 9630391"/>
              <a:gd name="csY0" fmla="*/ 0 h 3251958"/>
              <a:gd name="csX1" fmla="*/ 662797 w 9630391"/>
              <a:gd name="csY1" fmla="*/ 0 h 3251958"/>
              <a:gd name="csX2" fmla="*/ 1325595 w 9630391"/>
              <a:gd name="csY2" fmla="*/ 0 h 3251958"/>
              <a:gd name="csX3" fmla="*/ 1988392 w 9630391"/>
              <a:gd name="csY3" fmla="*/ 0 h 3251958"/>
              <a:gd name="csX4" fmla="*/ 2651190 w 9630391"/>
              <a:gd name="csY4" fmla="*/ 0 h 3251958"/>
              <a:gd name="csX5" fmla="*/ 3410291 w 9630391"/>
              <a:gd name="csY5" fmla="*/ 0 h 3251958"/>
              <a:gd name="csX6" fmla="*/ 3976785 w 9630391"/>
              <a:gd name="csY6" fmla="*/ 0 h 3251958"/>
              <a:gd name="csX7" fmla="*/ 4639582 w 9630391"/>
              <a:gd name="csY7" fmla="*/ 0 h 3251958"/>
              <a:gd name="csX8" fmla="*/ 5206076 w 9630391"/>
              <a:gd name="csY8" fmla="*/ 0 h 3251958"/>
              <a:gd name="csX9" fmla="*/ 5772570 w 9630391"/>
              <a:gd name="csY9" fmla="*/ 0 h 3251958"/>
              <a:gd name="csX10" fmla="*/ 6339063 w 9630391"/>
              <a:gd name="csY10" fmla="*/ 0 h 3251958"/>
              <a:gd name="csX11" fmla="*/ 6616645 w 9630391"/>
              <a:gd name="csY11" fmla="*/ 0 h 3251958"/>
              <a:gd name="csX12" fmla="*/ 7279443 w 9630391"/>
              <a:gd name="csY12" fmla="*/ 0 h 3251958"/>
              <a:gd name="csX13" fmla="*/ 7557024 w 9630391"/>
              <a:gd name="csY13" fmla="*/ 0 h 3251958"/>
              <a:gd name="csX14" fmla="*/ 8123518 w 9630391"/>
              <a:gd name="csY14" fmla="*/ 0 h 3251958"/>
              <a:gd name="csX15" fmla="*/ 8882619 w 9630391"/>
              <a:gd name="csY15" fmla="*/ 0 h 3251958"/>
              <a:gd name="csX16" fmla="*/ 9630391 w 9630391"/>
              <a:gd name="csY16" fmla="*/ 0 h 3251958"/>
              <a:gd name="csX17" fmla="*/ 9630391 w 9630391"/>
              <a:gd name="csY17" fmla="*/ 574513 h 3251958"/>
              <a:gd name="csX18" fmla="*/ 9630391 w 9630391"/>
              <a:gd name="csY18" fmla="*/ 1051466 h 3251958"/>
              <a:gd name="csX19" fmla="*/ 9630391 w 9630391"/>
              <a:gd name="csY19" fmla="*/ 1528420 h 3251958"/>
              <a:gd name="csX20" fmla="*/ 9630391 w 9630391"/>
              <a:gd name="csY20" fmla="*/ 2070413 h 3251958"/>
              <a:gd name="csX21" fmla="*/ 9630391 w 9630391"/>
              <a:gd name="csY21" fmla="*/ 2612406 h 3251958"/>
              <a:gd name="csX22" fmla="*/ 9630391 w 9630391"/>
              <a:gd name="csY22" fmla="*/ 3251958 h 3251958"/>
              <a:gd name="csX23" fmla="*/ 8871290 w 9630391"/>
              <a:gd name="csY23" fmla="*/ 3251958 h 3251958"/>
              <a:gd name="csX24" fmla="*/ 8112188 w 9630391"/>
              <a:gd name="csY24" fmla="*/ 3251958 h 3251958"/>
              <a:gd name="csX25" fmla="*/ 7545695 w 9630391"/>
              <a:gd name="csY25" fmla="*/ 3251958 h 3251958"/>
              <a:gd name="csX26" fmla="*/ 6882897 w 9630391"/>
              <a:gd name="csY26" fmla="*/ 3251958 h 3251958"/>
              <a:gd name="csX27" fmla="*/ 6605315 w 9630391"/>
              <a:gd name="csY27" fmla="*/ 3251958 h 3251958"/>
              <a:gd name="csX28" fmla="*/ 5846214 w 9630391"/>
              <a:gd name="csY28" fmla="*/ 3251958 h 3251958"/>
              <a:gd name="csX29" fmla="*/ 5376024 w 9630391"/>
              <a:gd name="csY29" fmla="*/ 3251958 h 3251958"/>
              <a:gd name="csX30" fmla="*/ 4713227 w 9630391"/>
              <a:gd name="csY30" fmla="*/ 3251958 h 3251958"/>
              <a:gd name="csX31" fmla="*/ 4435645 w 9630391"/>
              <a:gd name="csY31" fmla="*/ 3251958 h 3251958"/>
              <a:gd name="csX32" fmla="*/ 3676543 w 9630391"/>
              <a:gd name="csY32" fmla="*/ 3251958 h 3251958"/>
              <a:gd name="csX33" fmla="*/ 3206354 w 9630391"/>
              <a:gd name="csY33" fmla="*/ 3251958 h 3251958"/>
              <a:gd name="csX34" fmla="*/ 2639860 w 9630391"/>
              <a:gd name="csY34" fmla="*/ 3251958 h 3251958"/>
              <a:gd name="csX35" fmla="*/ 2265974 w 9630391"/>
              <a:gd name="csY35" fmla="*/ 3251958 h 3251958"/>
              <a:gd name="csX36" fmla="*/ 1603177 w 9630391"/>
              <a:gd name="csY36" fmla="*/ 3251958 h 3251958"/>
              <a:gd name="csX37" fmla="*/ 844075 w 9630391"/>
              <a:gd name="csY37" fmla="*/ 3251958 h 3251958"/>
              <a:gd name="csX38" fmla="*/ 0 w 9630391"/>
              <a:gd name="csY38" fmla="*/ 3251958 h 3251958"/>
              <a:gd name="csX39" fmla="*/ 0 w 9630391"/>
              <a:gd name="csY39" fmla="*/ 2644926 h 3251958"/>
              <a:gd name="csX40" fmla="*/ 0 w 9630391"/>
              <a:gd name="csY40" fmla="*/ 2070413 h 3251958"/>
              <a:gd name="csX41" fmla="*/ 0 w 9630391"/>
              <a:gd name="csY41" fmla="*/ 1528420 h 3251958"/>
              <a:gd name="csX42" fmla="*/ 0 w 9630391"/>
              <a:gd name="csY42" fmla="*/ 953908 h 3251958"/>
              <a:gd name="csX43" fmla="*/ 0 w 9630391"/>
              <a:gd name="csY43" fmla="*/ 0 h 32519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</a:cxnLst>
            <a:rect l="l" t="t" r="r" b="b"/>
            <a:pathLst>
              <a:path w="9630391" h="3251958" fill="none" extrusionOk="0">
                <a:moveTo>
                  <a:pt x="0" y="0"/>
                </a:moveTo>
                <a:cubicBezTo>
                  <a:pt x="329813" y="-53165"/>
                  <a:pt x="345222" y="13726"/>
                  <a:pt x="662797" y="0"/>
                </a:cubicBezTo>
                <a:cubicBezTo>
                  <a:pt x="980372" y="-13726"/>
                  <a:pt x="1145635" y="65127"/>
                  <a:pt x="1325595" y="0"/>
                </a:cubicBezTo>
                <a:cubicBezTo>
                  <a:pt x="1505555" y="-65127"/>
                  <a:pt x="1726534" y="72421"/>
                  <a:pt x="1988392" y="0"/>
                </a:cubicBezTo>
                <a:cubicBezTo>
                  <a:pt x="2250250" y="-72421"/>
                  <a:pt x="2434433" y="28238"/>
                  <a:pt x="2651190" y="0"/>
                </a:cubicBezTo>
                <a:cubicBezTo>
                  <a:pt x="2867947" y="-28238"/>
                  <a:pt x="3196919" y="45250"/>
                  <a:pt x="3410291" y="0"/>
                </a:cubicBezTo>
                <a:cubicBezTo>
                  <a:pt x="3623663" y="-45250"/>
                  <a:pt x="3851324" y="24319"/>
                  <a:pt x="3976785" y="0"/>
                </a:cubicBezTo>
                <a:cubicBezTo>
                  <a:pt x="4102246" y="-24319"/>
                  <a:pt x="4312692" y="59968"/>
                  <a:pt x="4639582" y="0"/>
                </a:cubicBezTo>
                <a:cubicBezTo>
                  <a:pt x="4966472" y="-59968"/>
                  <a:pt x="5053226" y="63238"/>
                  <a:pt x="5206076" y="0"/>
                </a:cubicBezTo>
                <a:cubicBezTo>
                  <a:pt x="5358926" y="-63238"/>
                  <a:pt x="5584509" y="43059"/>
                  <a:pt x="5772570" y="0"/>
                </a:cubicBezTo>
                <a:cubicBezTo>
                  <a:pt x="5960631" y="-43059"/>
                  <a:pt x="6099192" y="64414"/>
                  <a:pt x="6339063" y="0"/>
                </a:cubicBezTo>
                <a:cubicBezTo>
                  <a:pt x="6578934" y="-64414"/>
                  <a:pt x="6532432" y="10588"/>
                  <a:pt x="6616645" y="0"/>
                </a:cubicBezTo>
                <a:cubicBezTo>
                  <a:pt x="6700858" y="-10588"/>
                  <a:pt x="7038181" y="33644"/>
                  <a:pt x="7279443" y="0"/>
                </a:cubicBezTo>
                <a:cubicBezTo>
                  <a:pt x="7520705" y="-33644"/>
                  <a:pt x="7491338" y="16164"/>
                  <a:pt x="7557024" y="0"/>
                </a:cubicBezTo>
                <a:cubicBezTo>
                  <a:pt x="7622710" y="-16164"/>
                  <a:pt x="7931378" y="13241"/>
                  <a:pt x="8123518" y="0"/>
                </a:cubicBezTo>
                <a:cubicBezTo>
                  <a:pt x="8315658" y="-13241"/>
                  <a:pt x="8557461" y="19183"/>
                  <a:pt x="8882619" y="0"/>
                </a:cubicBezTo>
                <a:cubicBezTo>
                  <a:pt x="9207777" y="-19183"/>
                  <a:pt x="9433756" y="31796"/>
                  <a:pt x="9630391" y="0"/>
                </a:cubicBezTo>
                <a:cubicBezTo>
                  <a:pt x="9672049" y="156551"/>
                  <a:pt x="9598134" y="400758"/>
                  <a:pt x="9630391" y="574513"/>
                </a:cubicBezTo>
                <a:cubicBezTo>
                  <a:pt x="9662648" y="748268"/>
                  <a:pt x="9621581" y="884184"/>
                  <a:pt x="9630391" y="1051466"/>
                </a:cubicBezTo>
                <a:cubicBezTo>
                  <a:pt x="9639201" y="1218748"/>
                  <a:pt x="9610973" y="1374530"/>
                  <a:pt x="9630391" y="1528420"/>
                </a:cubicBezTo>
                <a:cubicBezTo>
                  <a:pt x="9649809" y="1682310"/>
                  <a:pt x="9568655" y="1906870"/>
                  <a:pt x="9630391" y="2070413"/>
                </a:cubicBezTo>
                <a:cubicBezTo>
                  <a:pt x="9692127" y="2233956"/>
                  <a:pt x="9590082" y="2462195"/>
                  <a:pt x="9630391" y="2612406"/>
                </a:cubicBezTo>
                <a:cubicBezTo>
                  <a:pt x="9670700" y="2762617"/>
                  <a:pt x="9595597" y="3084733"/>
                  <a:pt x="9630391" y="3251958"/>
                </a:cubicBezTo>
                <a:cubicBezTo>
                  <a:pt x="9457835" y="3312314"/>
                  <a:pt x="9237608" y="3206048"/>
                  <a:pt x="8871290" y="3251958"/>
                </a:cubicBezTo>
                <a:cubicBezTo>
                  <a:pt x="8504972" y="3297868"/>
                  <a:pt x="8373576" y="3188953"/>
                  <a:pt x="8112188" y="3251958"/>
                </a:cubicBezTo>
                <a:cubicBezTo>
                  <a:pt x="7850800" y="3314963"/>
                  <a:pt x="7729130" y="3222085"/>
                  <a:pt x="7545695" y="3251958"/>
                </a:cubicBezTo>
                <a:cubicBezTo>
                  <a:pt x="7362260" y="3281831"/>
                  <a:pt x="7064325" y="3172641"/>
                  <a:pt x="6882897" y="3251958"/>
                </a:cubicBezTo>
                <a:cubicBezTo>
                  <a:pt x="6701469" y="3331275"/>
                  <a:pt x="6686559" y="3241784"/>
                  <a:pt x="6605315" y="3251958"/>
                </a:cubicBezTo>
                <a:cubicBezTo>
                  <a:pt x="6524071" y="3262132"/>
                  <a:pt x="6099834" y="3210663"/>
                  <a:pt x="5846214" y="3251958"/>
                </a:cubicBezTo>
                <a:cubicBezTo>
                  <a:pt x="5592594" y="3293253"/>
                  <a:pt x="5568116" y="3228852"/>
                  <a:pt x="5376024" y="3251958"/>
                </a:cubicBezTo>
                <a:cubicBezTo>
                  <a:pt x="5183932" y="3275064"/>
                  <a:pt x="4999867" y="3227300"/>
                  <a:pt x="4713227" y="3251958"/>
                </a:cubicBezTo>
                <a:cubicBezTo>
                  <a:pt x="4426587" y="3276616"/>
                  <a:pt x="4504221" y="3239832"/>
                  <a:pt x="4435645" y="3251958"/>
                </a:cubicBezTo>
                <a:cubicBezTo>
                  <a:pt x="4367069" y="3264084"/>
                  <a:pt x="3832351" y="3244277"/>
                  <a:pt x="3676543" y="3251958"/>
                </a:cubicBezTo>
                <a:cubicBezTo>
                  <a:pt x="3520735" y="3259639"/>
                  <a:pt x="3397395" y="3244023"/>
                  <a:pt x="3206354" y="3251958"/>
                </a:cubicBezTo>
                <a:cubicBezTo>
                  <a:pt x="3015313" y="3259893"/>
                  <a:pt x="2906380" y="3205878"/>
                  <a:pt x="2639860" y="3251958"/>
                </a:cubicBezTo>
                <a:cubicBezTo>
                  <a:pt x="2373340" y="3298038"/>
                  <a:pt x="2383303" y="3216845"/>
                  <a:pt x="2265974" y="3251958"/>
                </a:cubicBezTo>
                <a:cubicBezTo>
                  <a:pt x="2148645" y="3287071"/>
                  <a:pt x="1822615" y="3246500"/>
                  <a:pt x="1603177" y="3251958"/>
                </a:cubicBezTo>
                <a:cubicBezTo>
                  <a:pt x="1383739" y="3257416"/>
                  <a:pt x="1062753" y="3193816"/>
                  <a:pt x="844075" y="3251958"/>
                </a:cubicBezTo>
                <a:cubicBezTo>
                  <a:pt x="625397" y="3310100"/>
                  <a:pt x="219725" y="3179082"/>
                  <a:pt x="0" y="3251958"/>
                </a:cubicBezTo>
                <a:cubicBezTo>
                  <a:pt x="-56056" y="2975856"/>
                  <a:pt x="51978" y="2799024"/>
                  <a:pt x="0" y="2644926"/>
                </a:cubicBezTo>
                <a:cubicBezTo>
                  <a:pt x="-51978" y="2490828"/>
                  <a:pt x="22114" y="2292364"/>
                  <a:pt x="0" y="2070413"/>
                </a:cubicBezTo>
                <a:cubicBezTo>
                  <a:pt x="-22114" y="1848462"/>
                  <a:pt x="23102" y="1741994"/>
                  <a:pt x="0" y="1528420"/>
                </a:cubicBezTo>
                <a:cubicBezTo>
                  <a:pt x="-23102" y="1314846"/>
                  <a:pt x="21415" y="1073147"/>
                  <a:pt x="0" y="953908"/>
                </a:cubicBezTo>
                <a:cubicBezTo>
                  <a:pt x="-21415" y="834669"/>
                  <a:pt x="83884" y="340141"/>
                  <a:pt x="0" y="0"/>
                </a:cubicBezTo>
                <a:close/>
              </a:path>
              <a:path w="9630391" h="3251958" stroke="0" extrusionOk="0">
                <a:moveTo>
                  <a:pt x="0" y="0"/>
                </a:moveTo>
                <a:cubicBezTo>
                  <a:pt x="184673" y="-28824"/>
                  <a:pt x="363731" y="49865"/>
                  <a:pt x="470190" y="0"/>
                </a:cubicBezTo>
                <a:cubicBezTo>
                  <a:pt x="576649" y="-49865"/>
                  <a:pt x="691562" y="14678"/>
                  <a:pt x="747772" y="0"/>
                </a:cubicBezTo>
                <a:cubicBezTo>
                  <a:pt x="803982" y="-14678"/>
                  <a:pt x="1260655" y="48201"/>
                  <a:pt x="1506873" y="0"/>
                </a:cubicBezTo>
                <a:cubicBezTo>
                  <a:pt x="1753091" y="-48201"/>
                  <a:pt x="1877703" y="25904"/>
                  <a:pt x="1977063" y="0"/>
                </a:cubicBezTo>
                <a:cubicBezTo>
                  <a:pt x="2076423" y="-25904"/>
                  <a:pt x="2331929" y="43713"/>
                  <a:pt x="2447252" y="0"/>
                </a:cubicBezTo>
                <a:cubicBezTo>
                  <a:pt x="2562575" y="-43713"/>
                  <a:pt x="2904890" y="32782"/>
                  <a:pt x="3206354" y="0"/>
                </a:cubicBezTo>
                <a:cubicBezTo>
                  <a:pt x="3507818" y="-32782"/>
                  <a:pt x="3460686" y="30133"/>
                  <a:pt x="3580239" y="0"/>
                </a:cubicBezTo>
                <a:cubicBezTo>
                  <a:pt x="3699793" y="-30133"/>
                  <a:pt x="3987865" y="21505"/>
                  <a:pt x="4339341" y="0"/>
                </a:cubicBezTo>
                <a:cubicBezTo>
                  <a:pt x="4690817" y="-21505"/>
                  <a:pt x="4888448" y="27632"/>
                  <a:pt x="5098442" y="0"/>
                </a:cubicBezTo>
                <a:cubicBezTo>
                  <a:pt x="5308436" y="-27632"/>
                  <a:pt x="5469238" y="44367"/>
                  <a:pt x="5664936" y="0"/>
                </a:cubicBezTo>
                <a:cubicBezTo>
                  <a:pt x="5860634" y="-44367"/>
                  <a:pt x="6058688" y="87402"/>
                  <a:pt x="6424037" y="0"/>
                </a:cubicBezTo>
                <a:cubicBezTo>
                  <a:pt x="6789386" y="-87402"/>
                  <a:pt x="6700497" y="17182"/>
                  <a:pt x="6894227" y="0"/>
                </a:cubicBezTo>
                <a:cubicBezTo>
                  <a:pt x="7087957" y="-17182"/>
                  <a:pt x="7132134" y="5544"/>
                  <a:pt x="7364417" y="0"/>
                </a:cubicBezTo>
                <a:cubicBezTo>
                  <a:pt x="7596700" y="-5544"/>
                  <a:pt x="7873677" y="6933"/>
                  <a:pt x="8027214" y="0"/>
                </a:cubicBezTo>
                <a:cubicBezTo>
                  <a:pt x="8180751" y="-6933"/>
                  <a:pt x="8301948" y="19569"/>
                  <a:pt x="8497404" y="0"/>
                </a:cubicBezTo>
                <a:cubicBezTo>
                  <a:pt x="8692860" y="-19569"/>
                  <a:pt x="9162775" y="101059"/>
                  <a:pt x="9630391" y="0"/>
                </a:cubicBezTo>
                <a:cubicBezTo>
                  <a:pt x="9686465" y="233177"/>
                  <a:pt x="9578960" y="376806"/>
                  <a:pt x="9630391" y="607032"/>
                </a:cubicBezTo>
                <a:cubicBezTo>
                  <a:pt x="9681822" y="837258"/>
                  <a:pt x="9621024" y="937885"/>
                  <a:pt x="9630391" y="1181545"/>
                </a:cubicBezTo>
                <a:cubicBezTo>
                  <a:pt x="9639758" y="1425205"/>
                  <a:pt x="9592459" y="1490335"/>
                  <a:pt x="9630391" y="1756057"/>
                </a:cubicBezTo>
                <a:cubicBezTo>
                  <a:pt x="9668323" y="2021779"/>
                  <a:pt x="9599609" y="2005862"/>
                  <a:pt x="9630391" y="2200492"/>
                </a:cubicBezTo>
                <a:cubicBezTo>
                  <a:pt x="9661173" y="2395122"/>
                  <a:pt x="9588439" y="2518274"/>
                  <a:pt x="9630391" y="2677445"/>
                </a:cubicBezTo>
                <a:cubicBezTo>
                  <a:pt x="9672343" y="2836616"/>
                  <a:pt x="9566119" y="2974745"/>
                  <a:pt x="9630391" y="3251958"/>
                </a:cubicBezTo>
                <a:cubicBezTo>
                  <a:pt x="9527548" y="3277482"/>
                  <a:pt x="9334071" y="3232076"/>
                  <a:pt x="9160201" y="3251958"/>
                </a:cubicBezTo>
                <a:cubicBezTo>
                  <a:pt x="8986331" y="3271840"/>
                  <a:pt x="8856857" y="3209610"/>
                  <a:pt x="8593708" y="3251958"/>
                </a:cubicBezTo>
                <a:cubicBezTo>
                  <a:pt x="8330559" y="3294306"/>
                  <a:pt x="8419260" y="3234608"/>
                  <a:pt x="8316126" y="3251958"/>
                </a:cubicBezTo>
                <a:cubicBezTo>
                  <a:pt x="8212992" y="3269308"/>
                  <a:pt x="8131712" y="3247437"/>
                  <a:pt x="8038544" y="3251958"/>
                </a:cubicBezTo>
                <a:cubicBezTo>
                  <a:pt x="7945376" y="3256479"/>
                  <a:pt x="7699076" y="3223128"/>
                  <a:pt x="7472050" y="3251958"/>
                </a:cubicBezTo>
                <a:cubicBezTo>
                  <a:pt x="7245024" y="3280788"/>
                  <a:pt x="7229502" y="3226350"/>
                  <a:pt x="7098165" y="3251958"/>
                </a:cubicBezTo>
                <a:cubicBezTo>
                  <a:pt x="6966829" y="3277566"/>
                  <a:pt x="6658112" y="3215280"/>
                  <a:pt x="6435367" y="3251958"/>
                </a:cubicBezTo>
                <a:cubicBezTo>
                  <a:pt x="6212622" y="3288636"/>
                  <a:pt x="6218334" y="3249238"/>
                  <a:pt x="6061481" y="3251958"/>
                </a:cubicBezTo>
                <a:cubicBezTo>
                  <a:pt x="5904628" y="3254678"/>
                  <a:pt x="5711627" y="3175680"/>
                  <a:pt x="5398684" y="3251958"/>
                </a:cubicBezTo>
                <a:cubicBezTo>
                  <a:pt x="5085741" y="3328236"/>
                  <a:pt x="5221092" y="3219149"/>
                  <a:pt x="5121102" y="3251958"/>
                </a:cubicBezTo>
                <a:cubicBezTo>
                  <a:pt x="5021112" y="3284767"/>
                  <a:pt x="4634895" y="3222714"/>
                  <a:pt x="4458305" y="3251958"/>
                </a:cubicBezTo>
                <a:cubicBezTo>
                  <a:pt x="4281715" y="3281202"/>
                  <a:pt x="4249122" y="3245151"/>
                  <a:pt x="4084419" y="3251958"/>
                </a:cubicBezTo>
                <a:cubicBezTo>
                  <a:pt x="3919716" y="3258765"/>
                  <a:pt x="3943116" y="3240823"/>
                  <a:pt x="3806837" y="3251958"/>
                </a:cubicBezTo>
                <a:cubicBezTo>
                  <a:pt x="3670558" y="3263093"/>
                  <a:pt x="3593707" y="3246285"/>
                  <a:pt x="3432951" y="3251958"/>
                </a:cubicBezTo>
                <a:cubicBezTo>
                  <a:pt x="3272195" y="3257631"/>
                  <a:pt x="3098528" y="3237146"/>
                  <a:pt x="2770154" y="3251958"/>
                </a:cubicBezTo>
                <a:cubicBezTo>
                  <a:pt x="2441780" y="3266770"/>
                  <a:pt x="2480774" y="3207744"/>
                  <a:pt x="2396268" y="3251958"/>
                </a:cubicBezTo>
                <a:cubicBezTo>
                  <a:pt x="2311762" y="3296172"/>
                  <a:pt x="2175825" y="3233999"/>
                  <a:pt x="2118686" y="3251958"/>
                </a:cubicBezTo>
                <a:cubicBezTo>
                  <a:pt x="2061547" y="3269917"/>
                  <a:pt x="1912294" y="3219316"/>
                  <a:pt x="1744800" y="3251958"/>
                </a:cubicBezTo>
                <a:cubicBezTo>
                  <a:pt x="1577306" y="3284600"/>
                  <a:pt x="1391735" y="3206051"/>
                  <a:pt x="1274611" y="3251958"/>
                </a:cubicBezTo>
                <a:cubicBezTo>
                  <a:pt x="1157487" y="3297865"/>
                  <a:pt x="859168" y="3210848"/>
                  <a:pt x="708117" y="3251958"/>
                </a:cubicBezTo>
                <a:cubicBezTo>
                  <a:pt x="557066" y="3293068"/>
                  <a:pt x="280217" y="3167990"/>
                  <a:pt x="0" y="3251958"/>
                </a:cubicBezTo>
                <a:cubicBezTo>
                  <a:pt x="-7024" y="2994491"/>
                  <a:pt x="46275" y="2818860"/>
                  <a:pt x="0" y="2644926"/>
                </a:cubicBezTo>
                <a:cubicBezTo>
                  <a:pt x="-46275" y="2470992"/>
                  <a:pt x="31769" y="2290401"/>
                  <a:pt x="0" y="2102933"/>
                </a:cubicBezTo>
                <a:cubicBezTo>
                  <a:pt x="-31769" y="1915465"/>
                  <a:pt x="1914" y="1795727"/>
                  <a:pt x="0" y="1560940"/>
                </a:cubicBezTo>
                <a:cubicBezTo>
                  <a:pt x="-1914" y="1326153"/>
                  <a:pt x="18340" y="1209006"/>
                  <a:pt x="0" y="1018947"/>
                </a:cubicBezTo>
                <a:cubicBezTo>
                  <a:pt x="-18340" y="828888"/>
                  <a:pt x="40666" y="661803"/>
                  <a:pt x="0" y="476954"/>
                </a:cubicBezTo>
                <a:cubicBezTo>
                  <a:pt x="-40666" y="292105"/>
                  <a:pt x="29238" y="177346"/>
                  <a:pt x="0" y="0"/>
                </a:cubicBezTo>
                <a:close/>
              </a:path>
            </a:pathLst>
          </a:custGeom>
          <a:ln w="31750">
            <a:solidFill>
              <a:schemeClr val="accent1">
                <a:shade val="1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705E49-70A5-D2DC-2FA8-8BFCCF43EDCA}"/>
              </a:ext>
            </a:extLst>
          </p:cNvPr>
          <p:cNvSpPr txBox="1"/>
          <p:nvPr/>
        </p:nvSpPr>
        <p:spPr>
          <a:xfrm>
            <a:off x="1280800" y="1551709"/>
            <a:ext cx="1025953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i="1" dirty="0">
                <a:latin typeface="Gabriola" pitchFamily="82" charset="0"/>
              </a:rPr>
              <a:t>To Encoder or to Propagate? The Best Choice for Each Constraint in SAT</a:t>
            </a:r>
          </a:p>
          <a:p>
            <a:pPr algn="ctr"/>
            <a:r>
              <a:rPr lang="en-US" sz="3200" dirty="0">
                <a:latin typeface="Gabriola" pitchFamily="82" charset="0"/>
              </a:rPr>
              <a:t>Abío et al., 2013</a:t>
            </a:r>
          </a:p>
        </p:txBody>
      </p:sp>
    </p:spTree>
    <p:extLst>
      <p:ext uri="{BB962C8B-B14F-4D97-AF65-F5344CB8AC3E}">
        <p14:creationId xmlns:p14="http://schemas.microsoft.com/office/powerpoint/2010/main" val="1523655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CBFDF-0FCC-FCA7-7273-BC0F04FFD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BB0DA-FEEF-C42D-2810-96D5EDFEC155}"/>
              </a:ext>
            </a:extLst>
          </p:cNvPr>
          <p:cNvSpPr txBox="1">
            <a:spLocks/>
          </p:cNvSpPr>
          <p:nvPr/>
        </p:nvSpPr>
        <p:spPr>
          <a:xfrm>
            <a:off x="651655" y="344492"/>
            <a:ext cx="10888684" cy="1181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b="1" dirty="0">
                <a:solidFill>
                  <a:schemeClr val="accent2">
                    <a:lumMod val="75000"/>
                  </a:schemeClr>
                </a:solidFill>
                <a:latin typeface="Gabriola" pitchFamily="82" charset="0"/>
              </a:rPr>
              <a:t>Why</a:t>
            </a:r>
            <a:r>
              <a:rPr lang="en-US" sz="6600" dirty="0">
                <a:latin typeface="Gabriola" pitchFamily="82" charset="0"/>
              </a:rPr>
              <a:t> encode cardinality constraints?</a:t>
            </a:r>
            <a:endParaRPr lang="en-US" sz="6600" dirty="0">
              <a:solidFill>
                <a:schemeClr val="accent2">
                  <a:lumMod val="75000"/>
                </a:schemeClr>
              </a:solidFill>
              <a:latin typeface="Gabriola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D9D17-BB8C-E05B-2786-A53B4C22FBE4}"/>
              </a:ext>
            </a:extLst>
          </p:cNvPr>
          <p:cNvSpPr txBox="1"/>
          <p:nvPr/>
        </p:nvSpPr>
        <p:spPr>
          <a:xfrm>
            <a:off x="4847045" y="1975347"/>
            <a:ext cx="66127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2">
                    <a:lumMod val="25000"/>
                  </a:schemeClr>
                </a:solidFill>
                <a:latin typeface="Gabriola" pitchFamily="82" charset="0"/>
              </a:rPr>
              <a:t>Reeves, Heule, and Bryant (2024)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465ABF-800D-0D3F-F8EE-21D1FB84B76E}"/>
              </a:ext>
            </a:extLst>
          </p:cNvPr>
          <p:cNvSpPr/>
          <p:nvPr/>
        </p:nvSpPr>
        <p:spPr>
          <a:xfrm>
            <a:off x="1427052" y="4950689"/>
            <a:ext cx="9337888" cy="595745"/>
          </a:xfrm>
          <a:prstGeom prst="rect">
            <a:avLst/>
          </a:prstGeom>
          <a:solidFill>
            <a:schemeClr val="accent3">
              <a:lumMod val="60000"/>
              <a:lumOff val="4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316569-4665-773B-902B-B8066C2EC1D7}"/>
              </a:ext>
            </a:extLst>
          </p:cNvPr>
          <p:cNvSpPr txBox="1"/>
          <p:nvPr/>
        </p:nvSpPr>
        <p:spPr>
          <a:xfrm>
            <a:off x="1803006" y="1525525"/>
            <a:ext cx="9292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Gabriola" pitchFamily="82" charset="0"/>
              </a:rPr>
              <a:t>Anniversary Track formulas with several cardinality constraints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D4A4CC-FAB6-C6D3-628B-B7BBFAF44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051" y="3009944"/>
            <a:ext cx="9337888" cy="3215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618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90E4F48-25DD-D6D9-1408-DEA0D6487E56}"/>
              </a:ext>
            </a:extLst>
          </p:cNvPr>
          <p:cNvSpPr txBox="1">
            <a:spLocks/>
          </p:cNvSpPr>
          <p:nvPr/>
        </p:nvSpPr>
        <p:spPr>
          <a:xfrm>
            <a:off x="651655" y="344492"/>
            <a:ext cx="10888684" cy="1181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b="1" dirty="0">
                <a:solidFill>
                  <a:schemeClr val="accent2">
                    <a:lumMod val="75000"/>
                  </a:schemeClr>
                </a:solidFill>
                <a:latin typeface="Gabriola" pitchFamily="82" charset="0"/>
              </a:rPr>
              <a:t>Why</a:t>
            </a:r>
            <a:r>
              <a:rPr lang="en-US" sz="6600" dirty="0">
                <a:latin typeface="Gabriola" pitchFamily="82" charset="0"/>
              </a:rPr>
              <a:t> encode cardinality constraints?</a:t>
            </a:r>
            <a:endParaRPr lang="en-US" sz="6600" dirty="0">
              <a:solidFill>
                <a:schemeClr val="accent2">
                  <a:lumMod val="75000"/>
                </a:schemeClr>
              </a:solidFill>
              <a:latin typeface="Gabriola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DD48BF-937F-B154-9264-F84A307EF2E7}"/>
              </a:ext>
            </a:extLst>
          </p:cNvPr>
          <p:cNvSpPr txBox="1"/>
          <p:nvPr/>
        </p:nvSpPr>
        <p:spPr>
          <a:xfrm>
            <a:off x="651655" y="1525525"/>
            <a:ext cx="11359531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Gabriola" pitchFamily="82" charset="0"/>
              </a:rPr>
              <a:t>Intuition</a:t>
            </a:r>
            <a:r>
              <a:rPr lang="en-US" sz="4400" dirty="0">
                <a:latin typeface="Gabriola" pitchFamily="82" charset="0"/>
              </a:rPr>
              <a:t>: </a:t>
            </a:r>
          </a:p>
          <a:p>
            <a:r>
              <a:rPr lang="en-US" sz="4400" dirty="0">
                <a:latin typeface="Gabriola" pitchFamily="82" charset="0"/>
              </a:rPr>
              <a:t>auxiliary variables represent intermediate abstractions that are useful for proofs</a:t>
            </a:r>
          </a:p>
          <a:p>
            <a:endParaRPr lang="en-US" sz="4000" dirty="0">
              <a:latin typeface="Gabriola" pitchFamily="82" charset="0"/>
            </a:endParaRPr>
          </a:p>
          <a:p>
            <a:endParaRPr lang="en-US" sz="4000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1071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EE5F8-5790-7638-3397-EA1F7DBD1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F023879-21D6-DC29-1120-A6D6B687686D}"/>
              </a:ext>
            </a:extLst>
          </p:cNvPr>
          <p:cNvSpPr txBox="1">
            <a:spLocks/>
          </p:cNvSpPr>
          <p:nvPr/>
        </p:nvSpPr>
        <p:spPr>
          <a:xfrm>
            <a:off x="651655" y="344492"/>
            <a:ext cx="10888684" cy="1181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b="1" dirty="0">
                <a:solidFill>
                  <a:schemeClr val="accent2">
                    <a:lumMod val="75000"/>
                  </a:schemeClr>
                </a:solidFill>
                <a:latin typeface="Gabriola" pitchFamily="82" charset="0"/>
              </a:rPr>
              <a:t>Why</a:t>
            </a:r>
            <a:r>
              <a:rPr lang="en-US" sz="6600" dirty="0">
                <a:latin typeface="Gabriola" pitchFamily="82" charset="0"/>
              </a:rPr>
              <a:t> encode cardinality constraints?</a:t>
            </a:r>
            <a:endParaRPr lang="en-US" sz="6600" dirty="0">
              <a:solidFill>
                <a:schemeClr val="accent2">
                  <a:lumMod val="75000"/>
                </a:schemeClr>
              </a:solidFill>
              <a:latin typeface="Gabriola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212B82-2F44-8702-F520-8B9BE3F5527C}"/>
              </a:ext>
            </a:extLst>
          </p:cNvPr>
          <p:cNvSpPr txBox="1"/>
          <p:nvPr/>
        </p:nvSpPr>
        <p:spPr>
          <a:xfrm>
            <a:off x="651655" y="1525525"/>
            <a:ext cx="11359531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Gabriola" pitchFamily="82" charset="0"/>
              </a:rPr>
              <a:t>Intuition</a:t>
            </a:r>
            <a:r>
              <a:rPr lang="en-US" sz="4400" dirty="0">
                <a:latin typeface="Gabriola" pitchFamily="82" charset="0"/>
              </a:rPr>
              <a:t>: </a:t>
            </a:r>
          </a:p>
          <a:p>
            <a:r>
              <a:rPr lang="en-US" sz="4400" dirty="0">
                <a:latin typeface="Gabriola" pitchFamily="82" charset="0"/>
              </a:rPr>
              <a:t>auxiliary variables represent intermediate abstractions that are useful for proofs</a:t>
            </a:r>
          </a:p>
          <a:p>
            <a:endParaRPr lang="en-US" sz="4000" dirty="0">
              <a:latin typeface="Gabriola" pitchFamily="82" charset="0"/>
            </a:endParaRPr>
          </a:p>
          <a:p>
            <a:endParaRPr lang="en-US" sz="4000" dirty="0">
              <a:latin typeface="Gabriola" pitchFamily="82" charset="0"/>
            </a:endParaRPr>
          </a:p>
        </p:txBody>
      </p:sp>
      <p:sp>
        <p:nvSpPr>
          <p:cNvPr id="7" name="Oval Callout 6">
            <a:extLst>
              <a:ext uri="{FF2B5EF4-FFF2-40B4-BE49-F238E27FC236}">
                <a16:creationId xmlns:a16="http://schemas.microsoft.com/office/drawing/2014/main" id="{141D92AD-1129-B3B3-2D39-D5D8A5DBA1F6}"/>
              </a:ext>
            </a:extLst>
          </p:cNvPr>
          <p:cNvSpPr/>
          <p:nvPr/>
        </p:nvSpPr>
        <p:spPr>
          <a:xfrm>
            <a:off x="3006671" y="3429000"/>
            <a:ext cx="9185329" cy="2896878"/>
          </a:xfrm>
          <a:custGeom>
            <a:avLst/>
            <a:gdLst>
              <a:gd name="csX0" fmla="*/ -870034 w 9185329"/>
              <a:gd name="csY0" fmla="*/ 2012374 h 2896878"/>
              <a:gd name="csX1" fmla="*/ 35463 w 9185329"/>
              <a:gd name="csY1" fmla="*/ 1628092 h 2896878"/>
              <a:gd name="csX2" fmla="*/ 4486715 w 9185329"/>
              <a:gd name="csY2" fmla="*/ 385 h 2896878"/>
              <a:gd name="csX3" fmla="*/ 8941510 w 9185329"/>
              <a:gd name="csY3" fmla="*/ 982772 h 2896878"/>
              <a:gd name="csX4" fmla="*/ 4797033 w 9185329"/>
              <a:gd name="csY4" fmla="*/ 2895443 h 2896878"/>
              <a:gd name="csX5" fmla="*/ 580691 w 9185329"/>
              <a:gd name="csY5" fmla="*/ 2153414 h 2896878"/>
              <a:gd name="csX6" fmla="*/ -870034 w 9185329"/>
              <a:gd name="csY6" fmla="*/ 2012374 h 28968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9185329" h="2896878" fill="none" extrusionOk="0">
                <a:moveTo>
                  <a:pt x="-870034" y="2012374"/>
                </a:moveTo>
                <a:cubicBezTo>
                  <a:pt x="-563283" y="1889962"/>
                  <a:pt x="-182595" y="1807614"/>
                  <a:pt x="35463" y="1628092"/>
                </a:cubicBezTo>
                <a:cubicBezTo>
                  <a:pt x="-47257" y="919423"/>
                  <a:pt x="2016885" y="80171"/>
                  <a:pt x="4486715" y="385"/>
                </a:cubicBezTo>
                <a:cubicBezTo>
                  <a:pt x="6431505" y="-24103"/>
                  <a:pt x="8305858" y="391268"/>
                  <a:pt x="8941510" y="982772"/>
                </a:cubicBezTo>
                <a:cubicBezTo>
                  <a:pt x="10127104" y="2197052"/>
                  <a:pt x="7871838" y="3038618"/>
                  <a:pt x="4797033" y="2895443"/>
                </a:cubicBezTo>
                <a:cubicBezTo>
                  <a:pt x="3157276" y="3070533"/>
                  <a:pt x="1464017" y="2677657"/>
                  <a:pt x="580691" y="2153414"/>
                </a:cubicBezTo>
                <a:cubicBezTo>
                  <a:pt x="-60390" y="2027691"/>
                  <a:pt x="-514595" y="1950475"/>
                  <a:pt x="-870034" y="2012374"/>
                </a:cubicBezTo>
                <a:close/>
              </a:path>
              <a:path w="9185329" h="2896878" stroke="0" extrusionOk="0">
                <a:moveTo>
                  <a:pt x="-870034" y="2012374"/>
                </a:moveTo>
                <a:cubicBezTo>
                  <a:pt x="-784821" y="1889301"/>
                  <a:pt x="-241876" y="1671149"/>
                  <a:pt x="35463" y="1628092"/>
                </a:cubicBezTo>
                <a:cubicBezTo>
                  <a:pt x="-146173" y="809643"/>
                  <a:pt x="1546348" y="27204"/>
                  <a:pt x="4486715" y="385"/>
                </a:cubicBezTo>
                <a:cubicBezTo>
                  <a:pt x="6416614" y="60042"/>
                  <a:pt x="8278070" y="485103"/>
                  <a:pt x="8941510" y="982772"/>
                </a:cubicBezTo>
                <a:cubicBezTo>
                  <a:pt x="9732908" y="1791331"/>
                  <a:pt x="8099194" y="2969720"/>
                  <a:pt x="4797033" y="2895443"/>
                </a:cubicBezTo>
                <a:cubicBezTo>
                  <a:pt x="3186600" y="2934935"/>
                  <a:pt x="1511115" y="2459974"/>
                  <a:pt x="580691" y="2153414"/>
                </a:cubicBezTo>
                <a:cubicBezTo>
                  <a:pt x="164748" y="2126518"/>
                  <a:pt x="-289542" y="2044925"/>
                  <a:pt x="-870034" y="2012374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  <a:alpha val="59914"/>
            </a:schemeClr>
          </a:solidFill>
          <a:ln w="0">
            <a:extLst>
              <a:ext uri="{C807C97D-BFC1-408E-A445-0C87EB9F89A2}">
                <ask:lineSketchStyleProps xmlns:ask="http://schemas.microsoft.com/office/drawing/2018/sketchyshapes" sd="1219033472">
                  <a:prstGeom prst="wedgeEllipseCallout">
                    <a:avLst>
                      <a:gd name="adj1" fmla="val -59472"/>
                      <a:gd name="adj2" fmla="val 19467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 dirty="0">
                <a:solidFill>
                  <a:schemeClr val="tx1"/>
                </a:solidFill>
                <a:latin typeface="Gabriola" pitchFamily="82" charset="0"/>
              </a:rPr>
              <a:t>“If the graph is </a:t>
            </a:r>
            <a:r>
              <a:rPr lang="en-US" sz="4000" b="1" u="sng" dirty="0">
                <a:solidFill>
                  <a:schemeClr val="tx1"/>
                </a:solidFill>
                <a:latin typeface="Gabriola" pitchFamily="82" charset="0"/>
              </a:rPr>
              <a:t>too sparse</a:t>
            </a:r>
            <a:r>
              <a:rPr lang="en-US" sz="4000" b="1" dirty="0">
                <a:solidFill>
                  <a:schemeClr val="tx1"/>
                </a:solidFill>
                <a:latin typeface="Gabriola" pitchFamily="82" charset="0"/>
              </a:rPr>
              <a:t>, use argument </a:t>
            </a:r>
            <a:r>
              <a:rPr lang="en-US" sz="4000" b="1" dirty="0">
                <a:solidFill>
                  <a:srgbClr val="C00000"/>
                </a:solidFill>
                <a:latin typeface="Gabriola" pitchFamily="82" charset="0"/>
              </a:rPr>
              <a:t>A</a:t>
            </a:r>
            <a:r>
              <a:rPr lang="en-US" sz="4000" b="1" dirty="0">
                <a:solidFill>
                  <a:schemeClr val="tx1"/>
                </a:solidFill>
                <a:latin typeface="Gabriola" pitchFamily="82" charset="0"/>
              </a:rPr>
              <a:t>, and if it’s </a:t>
            </a:r>
            <a:r>
              <a:rPr lang="en-US" sz="4000" b="1" u="sng" dirty="0">
                <a:solidFill>
                  <a:schemeClr val="tx1"/>
                </a:solidFill>
                <a:latin typeface="Gabriola" pitchFamily="82" charset="0"/>
              </a:rPr>
              <a:t>too dense</a:t>
            </a:r>
            <a:r>
              <a:rPr lang="en-US" sz="4000" b="1" dirty="0">
                <a:solidFill>
                  <a:schemeClr val="tx1"/>
                </a:solidFill>
                <a:latin typeface="Gabriola" pitchFamily="82" charset="0"/>
              </a:rPr>
              <a:t>, use argument </a:t>
            </a:r>
            <a:r>
              <a:rPr lang="en-US" sz="4000" b="1" dirty="0">
                <a:solidFill>
                  <a:schemeClr val="accent4">
                    <a:lumMod val="75000"/>
                  </a:schemeClr>
                </a:solidFill>
                <a:latin typeface="Gabriola" pitchFamily="82" charset="0"/>
              </a:rPr>
              <a:t>B</a:t>
            </a:r>
            <a:r>
              <a:rPr lang="en-US" sz="4000" b="1" dirty="0">
                <a:solidFill>
                  <a:schemeClr val="tx1"/>
                </a:solidFill>
                <a:latin typeface="Gabriola" pitchFamily="82" charset="0"/>
              </a:rPr>
              <a:t>, and </a:t>
            </a:r>
            <a:r>
              <a:rPr lang="en-US" sz="4000" b="1" u="sng" dirty="0">
                <a:solidFill>
                  <a:schemeClr val="tx1"/>
                </a:solidFill>
                <a:latin typeface="Gabriola" pitchFamily="82" charset="0"/>
              </a:rPr>
              <a:t>in between </a:t>
            </a:r>
            <a:r>
              <a:rPr lang="en-US" sz="4000" b="1" dirty="0">
                <a:solidFill>
                  <a:schemeClr val="tx1"/>
                </a:solidFill>
                <a:latin typeface="Gabriola" pitchFamily="82" charset="0"/>
              </a:rPr>
              <a:t>use argument </a:t>
            </a:r>
            <a:r>
              <a:rPr lang="en-US" sz="4000" b="1" dirty="0">
                <a:solidFill>
                  <a:schemeClr val="accent6">
                    <a:lumMod val="75000"/>
                  </a:schemeClr>
                </a:solidFill>
                <a:latin typeface="Gabriola" pitchFamily="82" charset="0"/>
              </a:rPr>
              <a:t>C</a:t>
            </a:r>
            <a:r>
              <a:rPr lang="en-US" sz="4000" b="1" dirty="0">
                <a:solidFill>
                  <a:schemeClr val="tx1"/>
                </a:solidFill>
                <a:latin typeface="Gabriola" pitchFamily="82" charset="0"/>
              </a:rPr>
              <a:t>”</a:t>
            </a:r>
            <a:endParaRPr lang="en-US" sz="4000" dirty="0">
              <a:solidFill>
                <a:schemeClr val="tx1"/>
              </a:solidFill>
              <a:latin typeface="Gabriola" pitchFamily="82" charset="0"/>
            </a:endParaRPr>
          </a:p>
        </p:txBody>
      </p:sp>
      <p:pic>
        <p:nvPicPr>
          <p:cNvPr id="10" name="Picture 9" descr="Mathematician - Free people icons">
            <a:extLst>
              <a:ext uri="{FF2B5EF4-FFF2-40B4-BE49-F238E27FC236}">
                <a16:creationId xmlns:a16="http://schemas.microsoft.com/office/drawing/2014/main" id="{A36F06BD-9BA2-1426-5120-2E69E8627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7898" y="3793185"/>
            <a:ext cx="3619320" cy="361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843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86384-017A-DBA7-0A06-DFC83D606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25" y="74990"/>
            <a:ext cx="10671875" cy="1525668"/>
          </a:xfrm>
        </p:spPr>
        <p:txBody>
          <a:bodyPr>
            <a:normAutofit/>
          </a:bodyPr>
          <a:lstStyle/>
          <a:p>
            <a:pPr algn="ctr"/>
            <a:r>
              <a:rPr lang="en-US" sz="6600" dirty="0">
                <a:latin typeface="Gabriola" pitchFamily="82" charset="0"/>
              </a:rPr>
              <a:t>Considered Factors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038705-70A8-EB4D-D681-5DE72371CF0A}"/>
              </a:ext>
            </a:extLst>
          </p:cNvPr>
          <p:cNvSpPr/>
          <p:nvPr/>
        </p:nvSpPr>
        <p:spPr>
          <a:xfrm>
            <a:off x="1549832" y="1735810"/>
            <a:ext cx="3549112" cy="1890793"/>
          </a:xfrm>
          <a:custGeom>
            <a:avLst/>
            <a:gdLst>
              <a:gd name="csX0" fmla="*/ 0 w 3549112"/>
              <a:gd name="csY0" fmla="*/ 0 h 1890793"/>
              <a:gd name="csX1" fmla="*/ 556028 w 3549112"/>
              <a:gd name="csY1" fmla="*/ 0 h 1890793"/>
              <a:gd name="csX2" fmla="*/ 1076564 w 3549112"/>
              <a:gd name="csY2" fmla="*/ 0 h 1890793"/>
              <a:gd name="csX3" fmla="*/ 1703574 w 3549112"/>
              <a:gd name="csY3" fmla="*/ 0 h 1890793"/>
              <a:gd name="csX4" fmla="*/ 2295092 w 3549112"/>
              <a:gd name="csY4" fmla="*/ 0 h 1890793"/>
              <a:gd name="csX5" fmla="*/ 2886611 w 3549112"/>
              <a:gd name="csY5" fmla="*/ 0 h 1890793"/>
              <a:gd name="csX6" fmla="*/ 3549112 w 3549112"/>
              <a:gd name="csY6" fmla="*/ 0 h 1890793"/>
              <a:gd name="csX7" fmla="*/ 3549112 w 3549112"/>
              <a:gd name="csY7" fmla="*/ 491606 h 1890793"/>
              <a:gd name="csX8" fmla="*/ 3549112 w 3549112"/>
              <a:gd name="csY8" fmla="*/ 926489 h 1890793"/>
              <a:gd name="csX9" fmla="*/ 3549112 w 3549112"/>
              <a:gd name="csY9" fmla="*/ 1418095 h 1890793"/>
              <a:gd name="csX10" fmla="*/ 3549112 w 3549112"/>
              <a:gd name="csY10" fmla="*/ 1890793 h 1890793"/>
              <a:gd name="csX11" fmla="*/ 2922102 w 3549112"/>
              <a:gd name="csY11" fmla="*/ 1890793 h 1890793"/>
              <a:gd name="csX12" fmla="*/ 2295092 w 3549112"/>
              <a:gd name="csY12" fmla="*/ 1890793 h 1890793"/>
              <a:gd name="csX13" fmla="*/ 1632592 w 3549112"/>
              <a:gd name="csY13" fmla="*/ 1890793 h 1890793"/>
              <a:gd name="csX14" fmla="*/ 1076564 w 3549112"/>
              <a:gd name="csY14" fmla="*/ 1890793 h 1890793"/>
              <a:gd name="csX15" fmla="*/ 0 w 3549112"/>
              <a:gd name="csY15" fmla="*/ 1890793 h 1890793"/>
              <a:gd name="csX16" fmla="*/ 0 w 3549112"/>
              <a:gd name="csY16" fmla="*/ 1455911 h 1890793"/>
              <a:gd name="csX17" fmla="*/ 0 w 3549112"/>
              <a:gd name="csY17" fmla="*/ 983212 h 1890793"/>
              <a:gd name="csX18" fmla="*/ 0 w 3549112"/>
              <a:gd name="csY18" fmla="*/ 491606 h 1890793"/>
              <a:gd name="csX19" fmla="*/ 0 w 3549112"/>
              <a:gd name="csY19" fmla="*/ 0 h 18907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3549112" h="1890793" fill="none" extrusionOk="0">
                <a:moveTo>
                  <a:pt x="0" y="0"/>
                </a:moveTo>
                <a:cubicBezTo>
                  <a:pt x="170837" y="-21312"/>
                  <a:pt x="334922" y="10833"/>
                  <a:pt x="556028" y="0"/>
                </a:cubicBezTo>
                <a:cubicBezTo>
                  <a:pt x="777134" y="-10833"/>
                  <a:pt x="935366" y="26365"/>
                  <a:pt x="1076564" y="0"/>
                </a:cubicBezTo>
                <a:cubicBezTo>
                  <a:pt x="1217762" y="-26365"/>
                  <a:pt x="1564215" y="29176"/>
                  <a:pt x="1703574" y="0"/>
                </a:cubicBezTo>
                <a:cubicBezTo>
                  <a:pt x="1842933" y="-29176"/>
                  <a:pt x="2072284" y="16394"/>
                  <a:pt x="2295092" y="0"/>
                </a:cubicBezTo>
                <a:cubicBezTo>
                  <a:pt x="2517900" y="-16394"/>
                  <a:pt x="2757429" y="10992"/>
                  <a:pt x="2886611" y="0"/>
                </a:cubicBezTo>
                <a:cubicBezTo>
                  <a:pt x="3015793" y="-10992"/>
                  <a:pt x="3329852" y="70116"/>
                  <a:pt x="3549112" y="0"/>
                </a:cubicBezTo>
                <a:cubicBezTo>
                  <a:pt x="3563149" y="238468"/>
                  <a:pt x="3515101" y="385701"/>
                  <a:pt x="3549112" y="491606"/>
                </a:cubicBezTo>
                <a:cubicBezTo>
                  <a:pt x="3583123" y="597511"/>
                  <a:pt x="3538297" y="761421"/>
                  <a:pt x="3549112" y="926489"/>
                </a:cubicBezTo>
                <a:cubicBezTo>
                  <a:pt x="3559927" y="1091557"/>
                  <a:pt x="3546899" y="1289699"/>
                  <a:pt x="3549112" y="1418095"/>
                </a:cubicBezTo>
                <a:cubicBezTo>
                  <a:pt x="3551325" y="1546491"/>
                  <a:pt x="3511267" y="1676435"/>
                  <a:pt x="3549112" y="1890793"/>
                </a:cubicBezTo>
                <a:cubicBezTo>
                  <a:pt x="3369254" y="1960634"/>
                  <a:pt x="3149336" y="1828393"/>
                  <a:pt x="2922102" y="1890793"/>
                </a:cubicBezTo>
                <a:cubicBezTo>
                  <a:pt x="2694868" y="1953193"/>
                  <a:pt x="2596885" y="1833917"/>
                  <a:pt x="2295092" y="1890793"/>
                </a:cubicBezTo>
                <a:cubicBezTo>
                  <a:pt x="1993299" y="1947669"/>
                  <a:pt x="1961939" y="1864364"/>
                  <a:pt x="1632592" y="1890793"/>
                </a:cubicBezTo>
                <a:cubicBezTo>
                  <a:pt x="1303245" y="1917222"/>
                  <a:pt x="1222955" y="1828735"/>
                  <a:pt x="1076564" y="1890793"/>
                </a:cubicBezTo>
                <a:cubicBezTo>
                  <a:pt x="930173" y="1952851"/>
                  <a:pt x="232289" y="1781664"/>
                  <a:pt x="0" y="1890793"/>
                </a:cubicBezTo>
                <a:cubicBezTo>
                  <a:pt x="-46621" y="1709188"/>
                  <a:pt x="15734" y="1580752"/>
                  <a:pt x="0" y="1455911"/>
                </a:cubicBezTo>
                <a:cubicBezTo>
                  <a:pt x="-15734" y="1331070"/>
                  <a:pt x="29774" y="1201262"/>
                  <a:pt x="0" y="983212"/>
                </a:cubicBezTo>
                <a:cubicBezTo>
                  <a:pt x="-29774" y="765162"/>
                  <a:pt x="41990" y="668472"/>
                  <a:pt x="0" y="491606"/>
                </a:cubicBezTo>
                <a:cubicBezTo>
                  <a:pt x="-41990" y="314740"/>
                  <a:pt x="36163" y="171808"/>
                  <a:pt x="0" y="0"/>
                </a:cubicBezTo>
                <a:close/>
              </a:path>
              <a:path w="3549112" h="1890793" stroke="0" extrusionOk="0">
                <a:moveTo>
                  <a:pt x="0" y="0"/>
                </a:moveTo>
                <a:cubicBezTo>
                  <a:pt x="125539" y="-54087"/>
                  <a:pt x="406037" y="7531"/>
                  <a:pt x="556028" y="0"/>
                </a:cubicBezTo>
                <a:cubicBezTo>
                  <a:pt x="706019" y="-7531"/>
                  <a:pt x="925152" y="44043"/>
                  <a:pt x="1041073" y="0"/>
                </a:cubicBezTo>
                <a:cubicBezTo>
                  <a:pt x="1156995" y="-44043"/>
                  <a:pt x="1503962" y="66797"/>
                  <a:pt x="1703574" y="0"/>
                </a:cubicBezTo>
                <a:cubicBezTo>
                  <a:pt x="1903186" y="-66797"/>
                  <a:pt x="2105474" y="14095"/>
                  <a:pt x="2259601" y="0"/>
                </a:cubicBezTo>
                <a:cubicBezTo>
                  <a:pt x="2413728" y="-14095"/>
                  <a:pt x="2541179" y="31857"/>
                  <a:pt x="2815629" y="0"/>
                </a:cubicBezTo>
                <a:cubicBezTo>
                  <a:pt x="3090079" y="-31857"/>
                  <a:pt x="3211847" y="77841"/>
                  <a:pt x="3549112" y="0"/>
                </a:cubicBezTo>
                <a:cubicBezTo>
                  <a:pt x="3550322" y="127864"/>
                  <a:pt x="3543071" y="298936"/>
                  <a:pt x="3549112" y="434882"/>
                </a:cubicBezTo>
                <a:cubicBezTo>
                  <a:pt x="3555153" y="570828"/>
                  <a:pt x="3543792" y="708814"/>
                  <a:pt x="3549112" y="907581"/>
                </a:cubicBezTo>
                <a:cubicBezTo>
                  <a:pt x="3554432" y="1106348"/>
                  <a:pt x="3523265" y="1208737"/>
                  <a:pt x="3549112" y="1342463"/>
                </a:cubicBezTo>
                <a:cubicBezTo>
                  <a:pt x="3574959" y="1476189"/>
                  <a:pt x="3537096" y="1646335"/>
                  <a:pt x="3549112" y="1890793"/>
                </a:cubicBezTo>
                <a:cubicBezTo>
                  <a:pt x="3403443" y="1909330"/>
                  <a:pt x="3174878" y="1864373"/>
                  <a:pt x="2957593" y="1890793"/>
                </a:cubicBezTo>
                <a:cubicBezTo>
                  <a:pt x="2740308" y="1917213"/>
                  <a:pt x="2536560" y="1840764"/>
                  <a:pt x="2401566" y="1890793"/>
                </a:cubicBezTo>
                <a:cubicBezTo>
                  <a:pt x="2266572" y="1940822"/>
                  <a:pt x="2002887" y="1861868"/>
                  <a:pt x="1739065" y="1890793"/>
                </a:cubicBezTo>
                <a:cubicBezTo>
                  <a:pt x="1475243" y="1919718"/>
                  <a:pt x="1249419" y="1821547"/>
                  <a:pt x="1076564" y="1890793"/>
                </a:cubicBezTo>
                <a:cubicBezTo>
                  <a:pt x="903709" y="1960039"/>
                  <a:pt x="772123" y="1838870"/>
                  <a:pt x="556028" y="1890793"/>
                </a:cubicBezTo>
                <a:cubicBezTo>
                  <a:pt x="339933" y="1942716"/>
                  <a:pt x="114628" y="1878853"/>
                  <a:pt x="0" y="1890793"/>
                </a:cubicBezTo>
                <a:cubicBezTo>
                  <a:pt x="-42124" y="1785198"/>
                  <a:pt x="41319" y="1618353"/>
                  <a:pt x="0" y="1380279"/>
                </a:cubicBezTo>
                <a:cubicBezTo>
                  <a:pt x="-41319" y="1142205"/>
                  <a:pt x="25107" y="1155241"/>
                  <a:pt x="0" y="964304"/>
                </a:cubicBezTo>
                <a:cubicBezTo>
                  <a:pt x="-25107" y="773368"/>
                  <a:pt x="33692" y="646982"/>
                  <a:pt x="0" y="529422"/>
                </a:cubicBezTo>
                <a:cubicBezTo>
                  <a:pt x="-33692" y="411862"/>
                  <a:pt x="49570" y="110331"/>
                  <a:pt x="0" y="0"/>
                </a:cubicBezTo>
                <a:close/>
              </a:path>
            </a:pathLst>
          </a:custGeom>
          <a:ln w="412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Gabriola" pitchFamily="82" charset="0"/>
              </a:rPr>
              <a:t># of clauses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186833-CFD2-FDC8-A03E-E7F46118147B}"/>
              </a:ext>
            </a:extLst>
          </p:cNvPr>
          <p:cNvSpPr/>
          <p:nvPr/>
        </p:nvSpPr>
        <p:spPr>
          <a:xfrm>
            <a:off x="6427922" y="1735810"/>
            <a:ext cx="4584915" cy="1890793"/>
          </a:xfrm>
          <a:custGeom>
            <a:avLst/>
            <a:gdLst>
              <a:gd name="csX0" fmla="*/ 0 w 4584915"/>
              <a:gd name="csY0" fmla="*/ 0 h 1890793"/>
              <a:gd name="csX1" fmla="*/ 527265 w 4584915"/>
              <a:gd name="csY1" fmla="*/ 0 h 1890793"/>
              <a:gd name="csX2" fmla="*/ 1100380 w 4584915"/>
              <a:gd name="csY2" fmla="*/ 0 h 1890793"/>
              <a:gd name="csX3" fmla="*/ 1765192 w 4584915"/>
              <a:gd name="csY3" fmla="*/ 0 h 1890793"/>
              <a:gd name="csX4" fmla="*/ 2384156 w 4584915"/>
              <a:gd name="csY4" fmla="*/ 0 h 1890793"/>
              <a:gd name="csX5" fmla="*/ 2819723 w 4584915"/>
              <a:gd name="csY5" fmla="*/ 0 h 1890793"/>
              <a:gd name="csX6" fmla="*/ 3346988 w 4584915"/>
              <a:gd name="csY6" fmla="*/ 0 h 1890793"/>
              <a:gd name="csX7" fmla="*/ 4011801 w 4584915"/>
              <a:gd name="csY7" fmla="*/ 0 h 1890793"/>
              <a:gd name="csX8" fmla="*/ 4584915 w 4584915"/>
              <a:gd name="csY8" fmla="*/ 0 h 1890793"/>
              <a:gd name="csX9" fmla="*/ 4584915 w 4584915"/>
              <a:gd name="csY9" fmla="*/ 491606 h 1890793"/>
              <a:gd name="csX10" fmla="*/ 4584915 w 4584915"/>
              <a:gd name="csY10" fmla="*/ 907581 h 1890793"/>
              <a:gd name="csX11" fmla="*/ 4584915 w 4584915"/>
              <a:gd name="csY11" fmla="*/ 1342463 h 1890793"/>
              <a:gd name="csX12" fmla="*/ 4584915 w 4584915"/>
              <a:gd name="csY12" fmla="*/ 1890793 h 1890793"/>
              <a:gd name="csX13" fmla="*/ 4103499 w 4584915"/>
              <a:gd name="csY13" fmla="*/ 1890793 h 1890793"/>
              <a:gd name="csX14" fmla="*/ 3667932 w 4584915"/>
              <a:gd name="csY14" fmla="*/ 1890793 h 1890793"/>
              <a:gd name="csX15" fmla="*/ 3232365 w 4584915"/>
              <a:gd name="csY15" fmla="*/ 1890793 h 1890793"/>
              <a:gd name="csX16" fmla="*/ 2613402 w 4584915"/>
              <a:gd name="csY16" fmla="*/ 1890793 h 1890793"/>
              <a:gd name="csX17" fmla="*/ 2177835 w 4584915"/>
              <a:gd name="csY17" fmla="*/ 1890793 h 1890793"/>
              <a:gd name="csX18" fmla="*/ 1604720 w 4584915"/>
              <a:gd name="csY18" fmla="*/ 1890793 h 1890793"/>
              <a:gd name="csX19" fmla="*/ 1123304 w 4584915"/>
              <a:gd name="csY19" fmla="*/ 1890793 h 1890793"/>
              <a:gd name="csX20" fmla="*/ 550190 w 4584915"/>
              <a:gd name="csY20" fmla="*/ 1890793 h 1890793"/>
              <a:gd name="csX21" fmla="*/ 0 w 4584915"/>
              <a:gd name="csY21" fmla="*/ 1890793 h 1890793"/>
              <a:gd name="csX22" fmla="*/ 0 w 4584915"/>
              <a:gd name="csY22" fmla="*/ 1418095 h 1890793"/>
              <a:gd name="csX23" fmla="*/ 0 w 4584915"/>
              <a:gd name="csY23" fmla="*/ 964304 h 1890793"/>
              <a:gd name="csX24" fmla="*/ 0 w 4584915"/>
              <a:gd name="csY24" fmla="*/ 510514 h 1890793"/>
              <a:gd name="csX25" fmla="*/ 0 w 4584915"/>
              <a:gd name="csY25" fmla="*/ 0 h 18907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4584915" h="1890793" fill="none" extrusionOk="0">
                <a:moveTo>
                  <a:pt x="0" y="0"/>
                </a:moveTo>
                <a:cubicBezTo>
                  <a:pt x="238240" y="-37850"/>
                  <a:pt x="387551" y="9170"/>
                  <a:pt x="527265" y="0"/>
                </a:cubicBezTo>
                <a:cubicBezTo>
                  <a:pt x="666979" y="-9170"/>
                  <a:pt x="840624" y="43834"/>
                  <a:pt x="1100380" y="0"/>
                </a:cubicBezTo>
                <a:cubicBezTo>
                  <a:pt x="1360136" y="-43834"/>
                  <a:pt x="1538228" y="367"/>
                  <a:pt x="1765192" y="0"/>
                </a:cubicBezTo>
                <a:cubicBezTo>
                  <a:pt x="1992156" y="-367"/>
                  <a:pt x="2096973" y="64034"/>
                  <a:pt x="2384156" y="0"/>
                </a:cubicBezTo>
                <a:cubicBezTo>
                  <a:pt x="2671339" y="-64034"/>
                  <a:pt x="2662832" y="32135"/>
                  <a:pt x="2819723" y="0"/>
                </a:cubicBezTo>
                <a:cubicBezTo>
                  <a:pt x="2976614" y="-32135"/>
                  <a:pt x="3209791" y="45183"/>
                  <a:pt x="3346988" y="0"/>
                </a:cubicBezTo>
                <a:cubicBezTo>
                  <a:pt x="3484186" y="-45183"/>
                  <a:pt x="3847711" y="5155"/>
                  <a:pt x="4011801" y="0"/>
                </a:cubicBezTo>
                <a:cubicBezTo>
                  <a:pt x="4175891" y="-5155"/>
                  <a:pt x="4361799" y="14660"/>
                  <a:pt x="4584915" y="0"/>
                </a:cubicBezTo>
                <a:cubicBezTo>
                  <a:pt x="4618249" y="155585"/>
                  <a:pt x="4559773" y="321307"/>
                  <a:pt x="4584915" y="491606"/>
                </a:cubicBezTo>
                <a:cubicBezTo>
                  <a:pt x="4610057" y="661905"/>
                  <a:pt x="4550437" y="728074"/>
                  <a:pt x="4584915" y="907581"/>
                </a:cubicBezTo>
                <a:cubicBezTo>
                  <a:pt x="4619393" y="1087088"/>
                  <a:pt x="4547809" y="1192369"/>
                  <a:pt x="4584915" y="1342463"/>
                </a:cubicBezTo>
                <a:cubicBezTo>
                  <a:pt x="4622021" y="1492557"/>
                  <a:pt x="4526285" y="1624679"/>
                  <a:pt x="4584915" y="1890793"/>
                </a:cubicBezTo>
                <a:cubicBezTo>
                  <a:pt x="4458513" y="1922591"/>
                  <a:pt x="4225761" y="1888505"/>
                  <a:pt x="4103499" y="1890793"/>
                </a:cubicBezTo>
                <a:cubicBezTo>
                  <a:pt x="3981237" y="1893081"/>
                  <a:pt x="3796672" y="1840682"/>
                  <a:pt x="3667932" y="1890793"/>
                </a:cubicBezTo>
                <a:cubicBezTo>
                  <a:pt x="3539192" y="1940904"/>
                  <a:pt x="3400362" y="1887153"/>
                  <a:pt x="3232365" y="1890793"/>
                </a:cubicBezTo>
                <a:cubicBezTo>
                  <a:pt x="3064368" y="1894433"/>
                  <a:pt x="2784813" y="1829662"/>
                  <a:pt x="2613402" y="1890793"/>
                </a:cubicBezTo>
                <a:cubicBezTo>
                  <a:pt x="2441991" y="1951924"/>
                  <a:pt x="2310764" y="1853152"/>
                  <a:pt x="2177835" y="1890793"/>
                </a:cubicBezTo>
                <a:cubicBezTo>
                  <a:pt x="2044906" y="1928434"/>
                  <a:pt x="1800901" y="1863030"/>
                  <a:pt x="1604720" y="1890793"/>
                </a:cubicBezTo>
                <a:cubicBezTo>
                  <a:pt x="1408539" y="1918556"/>
                  <a:pt x="1288531" y="1866752"/>
                  <a:pt x="1123304" y="1890793"/>
                </a:cubicBezTo>
                <a:cubicBezTo>
                  <a:pt x="958077" y="1914834"/>
                  <a:pt x="693270" y="1869860"/>
                  <a:pt x="550190" y="1890793"/>
                </a:cubicBezTo>
                <a:cubicBezTo>
                  <a:pt x="407110" y="1911726"/>
                  <a:pt x="144645" y="1856567"/>
                  <a:pt x="0" y="1890793"/>
                </a:cubicBezTo>
                <a:cubicBezTo>
                  <a:pt x="-9326" y="1712545"/>
                  <a:pt x="25710" y="1596179"/>
                  <a:pt x="0" y="1418095"/>
                </a:cubicBezTo>
                <a:cubicBezTo>
                  <a:pt x="-25710" y="1240011"/>
                  <a:pt x="49155" y="1166265"/>
                  <a:pt x="0" y="964304"/>
                </a:cubicBezTo>
                <a:cubicBezTo>
                  <a:pt x="-49155" y="762343"/>
                  <a:pt x="14097" y="675423"/>
                  <a:pt x="0" y="510514"/>
                </a:cubicBezTo>
                <a:cubicBezTo>
                  <a:pt x="-14097" y="345605"/>
                  <a:pt x="532" y="223336"/>
                  <a:pt x="0" y="0"/>
                </a:cubicBezTo>
                <a:close/>
              </a:path>
              <a:path w="4584915" h="1890793" stroke="0" extrusionOk="0">
                <a:moveTo>
                  <a:pt x="0" y="0"/>
                </a:moveTo>
                <a:cubicBezTo>
                  <a:pt x="126314" y="-45866"/>
                  <a:pt x="264949" y="30409"/>
                  <a:pt x="527265" y="0"/>
                </a:cubicBezTo>
                <a:cubicBezTo>
                  <a:pt x="789581" y="-30409"/>
                  <a:pt x="819997" y="14293"/>
                  <a:pt x="962832" y="0"/>
                </a:cubicBezTo>
                <a:cubicBezTo>
                  <a:pt x="1105667" y="-14293"/>
                  <a:pt x="1470476" y="26355"/>
                  <a:pt x="1627645" y="0"/>
                </a:cubicBezTo>
                <a:cubicBezTo>
                  <a:pt x="1784814" y="-26355"/>
                  <a:pt x="1928061" y="60151"/>
                  <a:pt x="2154910" y="0"/>
                </a:cubicBezTo>
                <a:cubicBezTo>
                  <a:pt x="2381760" y="-60151"/>
                  <a:pt x="2424574" y="14378"/>
                  <a:pt x="2682175" y="0"/>
                </a:cubicBezTo>
                <a:cubicBezTo>
                  <a:pt x="2939776" y="-14378"/>
                  <a:pt x="3069330" y="37849"/>
                  <a:pt x="3346988" y="0"/>
                </a:cubicBezTo>
                <a:cubicBezTo>
                  <a:pt x="3624646" y="-37849"/>
                  <a:pt x="3712980" y="40174"/>
                  <a:pt x="3828404" y="0"/>
                </a:cubicBezTo>
                <a:cubicBezTo>
                  <a:pt x="3943828" y="-40174"/>
                  <a:pt x="4376930" y="57890"/>
                  <a:pt x="4584915" y="0"/>
                </a:cubicBezTo>
                <a:cubicBezTo>
                  <a:pt x="4623681" y="197635"/>
                  <a:pt x="4560776" y="322471"/>
                  <a:pt x="4584915" y="510514"/>
                </a:cubicBezTo>
                <a:cubicBezTo>
                  <a:pt x="4609054" y="698557"/>
                  <a:pt x="4549133" y="737765"/>
                  <a:pt x="4584915" y="945397"/>
                </a:cubicBezTo>
                <a:cubicBezTo>
                  <a:pt x="4620697" y="1153029"/>
                  <a:pt x="4584781" y="1283778"/>
                  <a:pt x="4584915" y="1418095"/>
                </a:cubicBezTo>
                <a:cubicBezTo>
                  <a:pt x="4585049" y="1552412"/>
                  <a:pt x="4546820" y="1664656"/>
                  <a:pt x="4584915" y="1890793"/>
                </a:cubicBezTo>
                <a:cubicBezTo>
                  <a:pt x="4374641" y="1910584"/>
                  <a:pt x="4340235" y="1863309"/>
                  <a:pt x="4149348" y="1890793"/>
                </a:cubicBezTo>
                <a:cubicBezTo>
                  <a:pt x="3958461" y="1918277"/>
                  <a:pt x="3718839" y="1850201"/>
                  <a:pt x="3484535" y="1890793"/>
                </a:cubicBezTo>
                <a:cubicBezTo>
                  <a:pt x="3250231" y="1931385"/>
                  <a:pt x="3183034" y="1835068"/>
                  <a:pt x="3003119" y="1890793"/>
                </a:cubicBezTo>
                <a:cubicBezTo>
                  <a:pt x="2823204" y="1946518"/>
                  <a:pt x="2576092" y="1833357"/>
                  <a:pt x="2430005" y="1890793"/>
                </a:cubicBezTo>
                <a:cubicBezTo>
                  <a:pt x="2283918" y="1948229"/>
                  <a:pt x="2052753" y="1880039"/>
                  <a:pt x="1765192" y="1890793"/>
                </a:cubicBezTo>
                <a:cubicBezTo>
                  <a:pt x="1477631" y="1901547"/>
                  <a:pt x="1400250" y="1888619"/>
                  <a:pt x="1192078" y="1890793"/>
                </a:cubicBezTo>
                <a:cubicBezTo>
                  <a:pt x="983906" y="1892967"/>
                  <a:pt x="849079" y="1883618"/>
                  <a:pt x="756511" y="1890793"/>
                </a:cubicBezTo>
                <a:cubicBezTo>
                  <a:pt x="663943" y="1897968"/>
                  <a:pt x="190872" y="1879840"/>
                  <a:pt x="0" y="1890793"/>
                </a:cubicBezTo>
                <a:cubicBezTo>
                  <a:pt x="-21023" y="1773895"/>
                  <a:pt x="27712" y="1596965"/>
                  <a:pt x="0" y="1380279"/>
                </a:cubicBezTo>
                <a:cubicBezTo>
                  <a:pt x="-27712" y="1163593"/>
                  <a:pt x="51740" y="985750"/>
                  <a:pt x="0" y="869765"/>
                </a:cubicBezTo>
                <a:cubicBezTo>
                  <a:pt x="-51740" y="753780"/>
                  <a:pt x="28243" y="251504"/>
                  <a:pt x="0" y="0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 w="412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Gabriola" pitchFamily="82" charset="0"/>
              </a:rPr>
              <a:t># of aux. variables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3A6C1E-B6D0-5035-6581-8344D2BC3E1D}"/>
              </a:ext>
            </a:extLst>
          </p:cNvPr>
          <p:cNvSpPr/>
          <p:nvPr/>
        </p:nvSpPr>
        <p:spPr>
          <a:xfrm>
            <a:off x="3856495" y="4361857"/>
            <a:ext cx="3549112" cy="1890793"/>
          </a:xfrm>
          <a:custGeom>
            <a:avLst/>
            <a:gdLst>
              <a:gd name="csX0" fmla="*/ 0 w 3549112"/>
              <a:gd name="csY0" fmla="*/ 0 h 1890793"/>
              <a:gd name="csX1" fmla="*/ 556028 w 3549112"/>
              <a:gd name="csY1" fmla="*/ 0 h 1890793"/>
              <a:gd name="csX2" fmla="*/ 1076564 w 3549112"/>
              <a:gd name="csY2" fmla="*/ 0 h 1890793"/>
              <a:gd name="csX3" fmla="*/ 1703574 w 3549112"/>
              <a:gd name="csY3" fmla="*/ 0 h 1890793"/>
              <a:gd name="csX4" fmla="*/ 2295092 w 3549112"/>
              <a:gd name="csY4" fmla="*/ 0 h 1890793"/>
              <a:gd name="csX5" fmla="*/ 2886611 w 3549112"/>
              <a:gd name="csY5" fmla="*/ 0 h 1890793"/>
              <a:gd name="csX6" fmla="*/ 3549112 w 3549112"/>
              <a:gd name="csY6" fmla="*/ 0 h 1890793"/>
              <a:gd name="csX7" fmla="*/ 3549112 w 3549112"/>
              <a:gd name="csY7" fmla="*/ 491606 h 1890793"/>
              <a:gd name="csX8" fmla="*/ 3549112 w 3549112"/>
              <a:gd name="csY8" fmla="*/ 926489 h 1890793"/>
              <a:gd name="csX9" fmla="*/ 3549112 w 3549112"/>
              <a:gd name="csY9" fmla="*/ 1418095 h 1890793"/>
              <a:gd name="csX10" fmla="*/ 3549112 w 3549112"/>
              <a:gd name="csY10" fmla="*/ 1890793 h 1890793"/>
              <a:gd name="csX11" fmla="*/ 2922102 w 3549112"/>
              <a:gd name="csY11" fmla="*/ 1890793 h 1890793"/>
              <a:gd name="csX12" fmla="*/ 2295092 w 3549112"/>
              <a:gd name="csY12" fmla="*/ 1890793 h 1890793"/>
              <a:gd name="csX13" fmla="*/ 1632592 w 3549112"/>
              <a:gd name="csY13" fmla="*/ 1890793 h 1890793"/>
              <a:gd name="csX14" fmla="*/ 1076564 w 3549112"/>
              <a:gd name="csY14" fmla="*/ 1890793 h 1890793"/>
              <a:gd name="csX15" fmla="*/ 0 w 3549112"/>
              <a:gd name="csY15" fmla="*/ 1890793 h 1890793"/>
              <a:gd name="csX16" fmla="*/ 0 w 3549112"/>
              <a:gd name="csY16" fmla="*/ 1455911 h 1890793"/>
              <a:gd name="csX17" fmla="*/ 0 w 3549112"/>
              <a:gd name="csY17" fmla="*/ 983212 h 1890793"/>
              <a:gd name="csX18" fmla="*/ 0 w 3549112"/>
              <a:gd name="csY18" fmla="*/ 491606 h 1890793"/>
              <a:gd name="csX19" fmla="*/ 0 w 3549112"/>
              <a:gd name="csY19" fmla="*/ 0 h 18907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3549112" h="1890793" fill="none" extrusionOk="0">
                <a:moveTo>
                  <a:pt x="0" y="0"/>
                </a:moveTo>
                <a:cubicBezTo>
                  <a:pt x="170837" y="-21312"/>
                  <a:pt x="334922" y="10833"/>
                  <a:pt x="556028" y="0"/>
                </a:cubicBezTo>
                <a:cubicBezTo>
                  <a:pt x="777134" y="-10833"/>
                  <a:pt x="935366" y="26365"/>
                  <a:pt x="1076564" y="0"/>
                </a:cubicBezTo>
                <a:cubicBezTo>
                  <a:pt x="1217762" y="-26365"/>
                  <a:pt x="1564215" y="29176"/>
                  <a:pt x="1703574" y="0"/>
                </a:cubicBezTo>
                <a:cubicBezTo>
                  <a:pt x="1842933" y="-29176"/>
                  <a:pt x="2072284" y="16394"/>
                  <a:pt x="2295092" y="0"/>
                </a:cubicBezTo>
                <a:cubicBezTo>
                  <a:pt x="2517900" y="-16394"/>
                  <a:pt x="2757429" y="10992"/>
                  <a:pt x="2886611" y="0"/>
                </a:cubicBezTo>
                <a:cubicBezTo>
                  <a:pt x="3015793" y="-10992"/>
                  <a:pt x="3329852" y="70116"/>
                  <a:pt x="3549112" y="0"/>
                </a:cubicBezTo>
                <a:cubicBezTo>
                  <a:pt x="3563149" y="238468"/>
                  <a:pt x="3515101" y="385701"/>
                  <a:pt x="3549112" y="491606"/>
                </a:cubicBezTo>
                <a:cubicBezTo>
                  <a:pt x="3583123" y="597511"/>
                  <a:pt x="3538297" y="761421"/>
                  <a:pt x="3549112" y="926489"/>
                </a:cubicBezTo>
                <a:cubicBezTo>
                  <a:pt x="3559927" y="1091557"/>
                  <a:pt x="3546899" y="1289699"/>
                  <a:pt x="3549112" y="1418095"/>
                </a:cubicBezTo>
                <a:cubicBezTo>
                  <a:pt x="3551325" y="1546491"/>
                  <a:pt x="3511267" y="1676435"/>
                  <a:pt x="3549112" y="1890793"/>
                </a:cubicBezTo>
                <a:cubicBezTo>
                  <a:pt x="3369254" y="1960634"/>
                  <a:pt x="3149336" y="1828393"/>
                  <a:pt x="2922102" y="1890793"/>
                </a:cubicBezTo>
                <a:cubicBezTo>
                  <a:pt x="2694868" y="1953193"/>
                  <a:pt x="2596885" y="1833917"/>
                  <a:pt x="2295092" y="1890793"/>
                </a:cubicBezTo>
                <a:cubicBezTo>
                  <a:pt x="1993299" y="1947669"/>
                  <a:pt x="1961939" y="1864364"/>
                  <a:pt x="1632592" y="1890793"/>
                </a:cubicBezTo>
                <a:cubicBezTo>
                  <a:pt x="1303245" y="1917222"/>
                  <a:pt x="1222955" y="1828735"/>
                  <a:pt x="1076564" y="1890793"/>
                </a:cubicBezTo>
                <a:cubicBezTo>
                  <a:pt x="930173" y="1952851"/>
                  <a:pt x="232289" y="1781664"/>
                  <a:pt x="0" y="1890793"/>
                </a:cubicBezTo>
                <a:cubicBezTo>
                  <a:pt x="-46621" y="1709188"/>
                  <a:pt x="15734" y="1580752"/>
                  <a:pt x="0" y="1455911"/>
                </a:cubicBezTo>
                <a:cubicBezTo>
                  <a:pt x="-15734" y="1331070"/>
                  <a:pt x="29774" y="1201262"/>
                  <a:pt x="0" y="983212"/>
                </a:cubicBezTo>
                <a:cubicBezTo>
                  <a:pt x="-29774" y="765162"/>
                  <a:pt x="41990" y="668472"/>
                  <a:pt x="0" y="491606"/>
                </a:cubicBezTo>
                <a:cubicBezTo>
                  <a:pt x="-41990" y="314740"/>
                  <a:pt x="36163" y="171808"/>
                  <a:pt x="0" y="0"/>
                </a:cubicBezTo>
                <a:close/>
              </a:path>
              <a:path w="3549112" h="1890793" stroke="0" extrusionOk="0">
                <a:moveTo>
                  <a:pt x="0" y="0"/>
                </a:moveTo>
                <a:cubicBezTo>
                  <a:pt x="125539" y="-54087"/>
                  <a:pt x="406037" y="7531"/>
                  <a:pt x="556028" y="0"/>
                </a:cubicBezTo>
                <a:cubicBezTo>
                  <a:pt x="706019" y="-7531"/>
                  <a:pt x="925152" y="44043"/>
                  <a:pt x="1041073" y="0"/>
                </a:cubicBezTo>
                <a:cubicBezTo>
                  <a:pt x="1156995" y="-44043"/>
                  <a:pt x="1503962" y="66797"/>
                  <a:pt x="1703574" y="0"/>
                </a:cubicBezTo>
                <a:cubicBezTo>
                  <a:pt x="1903186" y="-66797"/>
                  <a:pt x="2105474" y="14095"/>
                  <a:pt x="2259601" y="0"/>
                </a:cubicBezTo>
                <a:cubicBezTo>
                  <a:pt x="2413728" y="-14095"/>
                  <a:pt x="2541179" y="31857"/>
                  <a:pt x="2815629" y="0"/>
                </a:cubicBezTo>
                <a:cubicBezTo>
                  <a:pt x="3090079" y="-31857"/>
                  <a:pt x="3211847" y="77841"/>
                  <a:pt x="3549112" y="0"/>
                </a:cubicBezTo>
                <a:cubicBezTo>
                  <a:pt x="3550322" y="127864"/>
                  <a:pt x="3543071" y="298936"/>
                  <a:pt x="3549112" y="434882"/>
                </a:cubicBezTo>
                <a:cubicBezTo>
                  <a:pt x="3555153" y="570828"/>
                  <a:pt x="3543792" y="708814"/>
                  <a:pt x="3549112" y="907581"/>
                </a:cubicBezTo>
                <a:cubicBezTo>
                  <a:pt x="3554432" y="1106348"/>
                  <a:pt x="3523265" y="1208737"/>
                  <a:pt x="3549112" y="1342463"/>
                </a:cubicBezTo>
                <a:cubicBezTo>
                  <a:pt x="3574959" y="1476189"/>
                  <a:pt x="3537096" y="1646335"/>
                  <a:pt x="3549112" y="1890793"/>
                </a:cubicBezTo>
                <a:cubicBezTo>
                  <a:pt x="3403443" y="1909330"/>
                  <a:pt x="3174878" y="1864373"/>
                  <a:pt x="2957593" y="1890793"/>
                </a:cubicBezTo>
                <a:cubicBezTo>
                  <a:pt x="2740308" y="1917213"/>
                  <a:pt x="2536560" y="1840764"/>
                  <a:pt x="2401566" y="1890793"/>
                </a:cubicBezTo>
                <a:cubicBezTo>
                  <a:pt x="2266572" y="1940822"/>
                  <a:pt x="2002887" y="1861868"/>
                  <a:pt x="1739065" y="1890793"/>
                </a:cubicBezTo>
                <a:cubicBezTo>
                  <a:pt x="1475243" y="1919718"/>
                  <a:pt x="1249419" y="1821547"/>
                  <a:pt x="1076564" y="1890793"/>
                </a:cubicBezTo>
                <a:cubicBezTo>
                  <a:pt x="903709" y="1960039"/>
                  <a:pt x="772123" y="1838870"/>
                  <a:pt x="556028" y="1890793"/>
                </a:cubicBezTo>
                <a:cubicBezTo>
                  <a:pt x="339933" y="1942716"/>
                  <a:pt x="114628" y="1878853"/>
                  <a:pt x="0" y="1890793"/>
                </a:cubicBezTo>
                <a:cubicBezTo>
                  <a:pt x="-42124" y="1785198"/>
                  <a:pt x="41319" y="1618353"/>
                  <a:pt x="0" y="1380279"/>
                </a:cubicBezTo>
                <a:cubicBezTo>
                  <a:pt x="-41319" y="1142205"/>
                  <a:pt x="25107" y="1155241"/>
                  <a:pt x="0" y="964304"/>
                </a:cubicBezTo>
                <a:cubicBezTo>
                  <a:pt x="-25107" y="773368"/>
                  <a:pt x="33692" y="646982"/>
                  <a:pt x="0" y="529422"/>
                </a:cubicBezTo>
                <a:cubicBezTo>
                  <a:pt x="-33692" y="411862"/>
                  <a:pt x="49570" y="110331"/>
                  <a:pt x="0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41275">
            <a:solidFill>
              <a:schemeClr val="bg1">
                <a:alpha val="99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Gabriola" pitchFamily="82" charset="0"/>
              </a:rPr>
              <a:t>Propagation strength</a:t>
            </a:r>
          </a:p>
        </p:txBody>
      </p:sp>
    </p:spTree>
    <p:extLst>
      <p:ext uri="{BB962C8B-B14F-4D97-AF65-F5344CB8AC3E}">
        <p14:creationId xmlns:p14="http://schemas.microsoft.com/office/powerpoint/2010/main" val="4006965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EA789D2-3EEF-129F-72E9-612CF2CBD9F8}"/>
              </a:ext>
            </a:extLst>
          </p:cNvPr>
          <p:cNvSpPr/>
          <p:nvPr/>
        </p:nvSpPr>
        <p:spPr>
          <a:xfrm>
            <a:off x="3205565" y="2014780"/>
            <a:ext cx="5780868" cy="2812942"/>
          </a:xfrm>
          <a:custGeom>
            <a:avLst/>
            <a:gdLst>
              <a:gd name="csX0" fmla="*/ 0 w 5780868"/>
              <a:gd name="csY0" fmla="*/ 0 h 2812942"/>
              <a:gd name="csX1" fmla="*/ 404661 w 5780868"/>
              <a:gd name="csY1" fmla="*/ 0 h 2812942"/>
              <a:gd name="csX2" fmla="*/ 1040556 w 5780868"/>
              <a:gd name="csY2" fmla="*/ 0 h 2812942"/>
              <a:gd name="csX3" fmla="*/ 1560834 w 5780868"/>
              <a:gd name="csY3" fmla="*/ 0 h 2812942"/>
              <a:gd name="csX4" fmla="*/ 2138921 w 5780868"/>
              <a:gd name="csY4" fmla="*/ 0 h 2812942"/>
              <a:gd name="csX5" fmla="*/ 2832625 w 5780868"/>
              <a:gd name="csY5" fmla="*/ 0 h 2812942"/>
              <a:gd name="csX6" fmla="*/ 3295095 w 5780868"/>
              <a:gd name="csY6" fmla="*/ 0 h 2812942"/>
              <a:gd name="csX7" fmla="*/ 3930990 w 5780868"/>
              <a:gd name="csY7" fmla="*/ 0 h 2812942"/>
              <a:gd name="csX8" fmla="*/ 4393460 w 5780868"/>
              <a:gd name="csY8" fmla="*/ 0 h 2812942"/>
              <a:gd name="csX9" fmla="*/ 4971546 w 5780868"/>
              <a:gd name="csY9" fmla="*/ 0 h 2812942"/>
              <a:gd name="csX10" fmla="*/ 5780868 w 5780868"/>
              <a:gd name="csY10" fmla="*/ 0 h 2812942"/>
              <a:gd name="csX11" fmla="*/ 5780868 w 5780868"/>
              <a:gd name="csY11" fmla="*/ 478200 h 2812942"/>
              <a:gd name="csX12" fmla="*/ 5780868 w 5780868"/>
              <a:gd name="csY12" fmla="*/ 1097047 h 2812942"/>
              <a:gd name="csX13" fmla="*/ 5780868 w 5780868"/>
              <a:gd name="csY13" fmla="*/ 1659636 h 2812942"/>
              <a:gd name="csX14" fmla="*/ 5780868 w 5780868"/>
              <a:gd name="csY14" fmla="*/ 2278483 h 2812942"/>
              <a:gd name="csX15" fmla="*/ 5780868 w 5780868"/>
              <a:gd name="csY15" fmla="*/ 2812942 h 2812942"/>
              <a:gd name="csX16" fmla="*/ 5260590 w 5780868"/>
              <a:gd name="csY16" fmla="*/ 2812942 h 2812942"/>
              <a:gd name="csX17" fmla="*/ 4740312 w 5780868"/>
              <a:gd name="csY17" fmla="*/ 2812942 h 2812942"/>
              <a:gd name="csX18" fmla="*/ 4104416 w 5780868"/>
              <a:gd name="csY18" fmla="*/ 2812942 h 2812942"/>
              <a:gd name="csX19" fmla="*/ 3526329 w 5780868"/>
              <a:gd name="csY19" fmla="*/ 2812942 h 2812942"/>
              <a:gd name="csX20" fmla="*/ 2832625 w 5780868"/>
              <a:gd name="csY20" fmla="*/ 2812942 h 2812942"/>
              <a:gd name="csX21" fmla="*/ 2138921 w 5780868"/>
              <a:gd name="csY21" fmla="*/ 2812942 h 2812942"/>
              <a:gd name="csX22" fmla="*/ 1503026 w 5780868"/>
              <a:gd name="csY22" fmla="*/ 2812942 h 2812942"/>
              <a:gd name="csX23" fmla="*/ 867130 w 5780868"/>
              <a:gd name="csY23" fmla="*/ 2812942 h 2812942"/>
              <a:gd name="csX24" fmla="*/ 0 w 5780868"/>
              <a:gd name="csY24" fmla="*/ 2812942 h 2812942"/>
              <a:gd name="csX25" fmla="*/ 0 w 5780868"/>
              <a:gd name="csY25" fmla="*/ 2306612 h 2812942"/>
              <a:gd name="csX26" fmla="*/ 0 w 5780868"/>
              <a:gd name="csY26" fmla="*/ 1744024 h 2812942"/>
              <a:gd name="csX27" fmla="*/ 0 w 5780868"/>
              <a:gd name="csY27" fmla="*/ 1181436 h 2812942"/>
              <a:gd name="csX28" fmla="*/ 0 w 5780868"/>
              <a:gd name="csY28" fmla="*/ 703235 h 2812942"/>
              <a:gd name="csX29" fmla="*/ 0 w 5780868"/>
              <a:gd name="csY29" fmla="*/ 0 h 2812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5780868" h="2812942" fill="none" extrusionOk="0">
                <a:moveTo>
                  <a:pt x="0" y="0"/>
                </a:moveTo>
                <a:cubicBezTo>
                  <a:pt x="192171" y="-28376"/>
                  <a:pt x="250197" y="1127"/>
                  <a:pt x="404661" y="0"/>
                </a:cubicBezTo>
                <a:cubicBezTo>
                  <a:pt x="559125" y="-1127"/>
                  <a:pt x="767078" y="6057"/>
                  <a:pt x="1040556" y="0"/>
                </a:cubicBezTo>
                <a:cubicBezTo>
                  <a:pt x="1314035" y="-6057"/>
                  <a:pt x="1413450" y="41224"/>
                  <a:pt x="1560834" y="0"/>
                </a:cubicBezTo>
                <a:cubicBezTo>
                  <a:pt x="1708218" y="-41224"/>
                  <a:pt x="1924002" y="69085"/>
                  <a:pt x="2138921" y="0"/>
                </a:cubicBezTo>
                <a:cubicBezTo>
                  <a:pt x="2353840" y="-69085"/>
                  <a:pt x="2656225" y="65980"/>
                  <a:pt x="2832625" y="0"/>
                </a:cubicBezTo>
                <a:cubicBezTo>
                  <a:pt x="3009025" y="-65980"/>
                  <a:pt x="3119731" y="35759"/>
                  <a:pt x="3295095" y="0"/>
                </a:cubicBezTo>
                <a:cubicBezTo>
                  <a:pt x="3470459" y="-35759"/>
                  <a:pt x="3655456" y="43847"/>
                  <a:pt x="3930990" y="0"/>
                </a:cubicBezTo>
                <a:cubicBezTo>
                  <a:pt x="4206525" y="-43847"/>
                  <a:pt x="4212883" y="54967"/>
                  <a:pt x="4393460" y="0"/>
                </a:cubicBezTo>
                <a:cubicBezTo>
                  <a:pt x="4574037" y="-54967"/>
                  <a:pt x="4722328" y="9608"/>
                  <a:pt x="4971546" y="0"/>
                </a:cubicBezTo>
                <a:cubicBezTo>
                  <a:pt x="5220764" y="-9608"/>
                  <a:pt x="5433473" y="10691"/>
                  <a:pt x="5780868" y="0"/>
                </a:cubicBezTo>
                <a:cubicBezTo>
                  <a:pt x="5826503" y="127908"/>
                  <a:pt x="5726505" y="356692"/>
                  <a:pt x="5780868" y="478200"/>
                </a:cubicBezTo>
                <a:cubicBezTo>
                  <a:pt x="5835231" y="599708"/>
                  <a:pt x="5744592" y="813299"/>
                  <a:pt x="5780868" y="1097047"/>
                </a:cubicBezTo>
                <a:cubicBezTo>
                  <a:pt x="5817144" y="1380795"/>
                  <a:pt x="5769098" y="1437259"/>
                  <a:pt x="5780868" y="1659636"/>
                </a:cubicBezTo>
                <a:cubicBezTo>
                  <a:pt x="5792638" y="1882013"/>
                  <a:pt x="5756650" y="2091518"/>
                  <a:pt x="5780868" y="2278483"/>
                </a:cubicBezTo>
                <a:cubicBezTo>
                  <a:pt x="5805086" y="2465448"/>
                  <a:pt x="5767340" y="2629909"/>
                  <a:pt x="5780868" y="2812942"/>
                </a:cubicBezTo>
                <a:cubicBezTo>
                  <a:pt x="5662389" y="2830383"/>
                  <a:pt x="5482811" y="2781961"/>
                  <a:pt x="5260590" y="2812942"/>
                </a:cubicBezTo>
                <a:cubicBezTo>
                  <a:pt x="5038369" y="2843923"/>
                  <a:pt x="4960329" y="2780714"/>
                  <a:pt x="4740312" y="2812942"/>
                </a:cubicBezTo>
                <a:cubicBezTo>
                  <a:pt x="4520295" y="2845170"/>
                  <a:pt x="4269356" y="2748840"/>
                  <a:pt x="4104416" y="2812942"/>
                </a:cubicBezTo>
                <a:cubicBezTo>
                  <a:pt x="3939476" y="2877044"/>
                  <a:pt x="3807885" y="2791634"/>
                  <a:pt x="3526329" y="2812942"/>
                </a:cubicBezTo>
                <a:cubicBezTo>
                  <a:pt x="3244773" y="2834250"/>
                  <a:pt x="3081477" y="2799110"/>
                  <a:pt x="2832625" y="2812942"/>
                </a:cubicBezTo>
                <a:cubicBezTo>
                  <a:pt x="2583773" y="2826774"/>
                  <a:pt x="2343846" y="2792813"/>
                  <a:pt x="2138921" y="2812942"/>
                </a:cubicBezTo>
                <a:cubicBezTo>
                  <a:pt x="1933996" y="2833071"/>
                  <a:pt x="1717403" y="2759077"/>
                  <a:pt x="1503026" y="2812942"/>
                </a:cubicBezTo>
                <a:cubicBezTo>
                  <a:pt x="1288650" y="2866807"/>
                  <a:pt x="1061348" y="2749074"/>
                  <a:pt x="867130" y="2812942"/>
                </a:cubicBezTo>
                <a:cubicBezTo>
                  <a:pt x="672912" y="2876810"/>
                  <a:pt x="401024" y="2774332"/>
                  <a:pt x="0" y="2812942"/>
                </a:cubicBezTo>
                <a:cubicBezTo>
                  <a:pt x="-57011" y="2561583"/>
                  <a:pt x="23114" y="2477400"/>
                  <a:pt x="0" y="2306612"/>
                </a:cubicBezTo>
                <a:cubicBezTo>
                  <a:pt x="-23114" y="2135824"/>
                  <a:pt x="17964" y="1996338"/>
                  <a:pt x="0" y="1744024"/>
                </a:cubicBezTo>
                <a:cubicBezTo>
                  <a:pt x="-17964" y="1491710"/>
                  <a:pt x="13360" y="1338754"/>
                  <a:pt x="0" y="1181436"/>
                </a:cubicBezTo>
                <a:cubicBezTo>
                  <a:pt x="-13360" y="1024118"/>
                  <a:pt x="3031" y="882196"/>
                  <a:pt x="0" y="703235"/>
                </a:cubicBezTo>
                <a:cubicBezTo>
                  <a:pt x="-3031" y="524274"/>
                  <a:pt x="54367" y="145493"/>
                  <a:pt x="0" y="0"/>
                </a:cubicBezTo>
                <a:close/>
              </a:path>
              <a:path w="5780868" h="2812942" stroke="0" extrusionOk="0">
                <a:moveTo>
                  <a:pt x="0" y="0"/>
                </a:moveTo>
                <a:cubicBezTo>
                  <a:pt x="114007" y="-52245"/>
                  <a:pt x="323092" y="32535"/>
                  <a:pt x="520278" y="0"/>
                </a:cubicBezTo>
                <a:cubicBezTo>
                  <a:pt x="717464" y="-32535"/>
                  <a:pt x="772208" y="32544"/>
                  <a:pt x="924939" y="0"/>
                </a:cubicBezTo>
                <a:cubicBezTo>
                  <a:pt x="1077670" y="-32544"/>
                  <a:pt x="1321960" y="793"/>
                  <a:pt x="1618643" y="0"/>
                </a:cubicBezTo>
                <a:cubicBezTo>
                  <a:pt x="1915326" y="-793"/>
                  <a:pt x="1897472" y="13708"/>
                  <a:pt x="2138921" y="0"/>
                </a:cubicBezTo>
                <a:cubicBezTo>
                  <a:pt x="2380370" y="-13708"/>
                  <a:pt x="2516351" y="45728"/>
                  <a:pt x="2659199" y="0"/>
                </a:cubicBezTo>
                <a:cubicBezTo>
                  <a:pt x="2802047" y="-45728"/>
                  <a:pt x="3197261" y="13318"/>
                  <a:pt x="3352903" y="0"/>
                </a:cubicBezTo>
                <a:cubicBezTo>
                  <a:pt x="3508545" y="-13318"/>
                  <a:pt x="3675631" y="12989"/>
                  <a:pt x="3815373" y="0"/>
                </a:cubicBezTo>
                <a:cubicBezTo>
                  <a:pt x="3955115" y="-12989"/>
                  <a:pt x="4257742" y="67948"/>
                  <a:pt x="4509077" y="0"/>
                </a:cubicBezTo>
                <a:cubicBezTo>
                  <a:pt x="4760412" y="-67948"/>
                  <a:pt x="4924258" y="30306"/>
                  <a:pt x="5202781" y="0"/>
                </a:cubicBezTo>
                <a:cubicBezTo>
                  <a:pt x="5481304" y="-30306"/>
                  <a:pt x="5618248" y="60933"/>
                  <a:pt x="5780868" y="0"/>
                </a:cubicBezTo>
                <a:cubicBezTo>
                  <a:pt x="5796426" y="138919"/>
                  <a:pt x="5706840" y="456278"/>
                  <a:pt x="5780868" y="618847"/>
                </a:cubicBezTo>
                <a:cubicBezTo>
                  <a:pt x="5854896" y="781416"/>
                  <a:pt x="5752878" y="959757"/>
                  <a:pt x="5780868" y="1209565"/>
                </a:cubicBezTo>
                <a:cubicBezTo>
                  <a:pt x="5808858" y="1459373"/>
                  <a:pt x="5763619" y="1484073"/>
                  <a:pt x="5780868" y="1687765"/>
                </a:cubicBezTo>
                <a:cubicBezTo>
                  <a:pt x="5798117" y="1891457"/>
                  <a:pt x="5758175" y="2010607"/>
                  <a:pt x="5780868" y="2250354"/>
                </a:cubicBezTo>
                <a:cubicBezTo>
                  <a:pt x="5803561" y="2490101"/>
                  <a:pt x="5736117" y="2565400"/>
                  <a:pt x="5780868" y="2812942"/>
                </a:cubicBezTo>
                <a:cubicBezTo>
                  <a:pt x="5591145" y="2838828"/>
                  <a:pt x="5414802" y="2769604"/>
                  <a:pt x="5202781" y="2812942"/>
                </a:cubicBezTo>
                <a:cubicBezTo>
                  <a:pt x="4990760" y="2856280"/>
                  <a:pt x="4795889" y="2802582"/>
                  <a:pt x="4509077" y="2812942"/>
                </a:cubicBezTo>
                <a:cubicBezTo>
                  <a:pt x="4222265" y="2823302"/>
                  <a:pt x="4091752" y="2779986"/>
                  <a:pt x="3930990" y="2812942"/>
                </a:cubicBezTo>
                <a:cubicBezTo>
                  <a:pt x="3770228" y="2845898"/>
                  <a:pt x="3728413" y="2783353"/>
                  <a:pt x="3526329" y="2812942"/>
                </a:cubicBezTo>
                <a:cubicBezTo>
                  <a:pt x="3324245" y="2842531"/>
                  <a:pt x="3285635" y="2774657"/>
                  <a:pt x="3063860" y="2812942"/>
                </a:cubicBezTo>
                <a:cubicBezTo>
                  <a:pt x="2842085" y="2851227"/>
                  <a:pt x="2537947" y="2762005"/>
                  <a:pt x="2370156" y="2812942"/>
                </a:cubicBezTo>
                <a:cubicBezTo>
                  <a:pt x="2202365" y="2863879"/>
                  <a:pt x="2016242" y="2792424"/>
                  <a:pt x="1792069" y="2812942"/>
                </a:cubicBezTo>
                <a:cubicBezTo>
                  <a:pt x="1567896" y="2833460"/>
                  <a:pt x="1452498" y="2794822"/>
                  <a:pt x="1329600" y="2812942"/>
                </a:cubicBezTo>
                <a:cubicBezTo>
                  <a:pt x="1206702" y="2831062"/>
                  <a:pt x="901893" y="2807720"/>
                  <a:pt x="751513" y="2812942"/>
                </a:cubicBezTo>
                <a:cubicBezTo>
                  <a:pt x="601133" y="2818164"/>
                  <a:pt x="273665" y="2739845"/>
                  <a:pt x="0" y="2812942"/>
                </a:cubicBezTo>
                <a:cubicBezTo>
                  <a:pt x="-6798" y="2643363"/>
                  <a:pt x="11975" y="2439699"/>
                  <a:pt x="0" y="2334742"/>
                </a:cubicBezTo>
                <a:cubicBezTo>
                  <a:pt x="-11975" y="2229785"/>
                  <a:pt x="42359" y="2028389"/>
                  <a:pt x="0" y="1744024"/>
                </a:cubicBezTo>
                <a:cubicBezTo>
                  <a:pt x="-42359" y="1459659"/>
                  <a:pt x="41686" y="1347385"/>
                  <a:pt x="0" y="1237694"/>
                </a:cubicBezTo>
                <a:cubicBezTo>
                  <a:pt x="-41686" y="1128003"/>
                  <a:pt x="28205" y="837627"/>
                  <a:pt x="0" y="618847"/>
                </a:cubicBezTo>
                <a:cubicBezTo>
                  <a:pt x="-28205" y="400067"/>
                  <a:pt x="64911" y="242074"/>
                  <a:pt x="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B04C6C-609E-7CE9-2AD1-8D0CB1E40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8000" dirty="0">
                <a:latin typeface="Gabriola" pitchFamily="82" charset="0"/>
              </a:rPr>
              <a:t>At Most One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214CBD-5BA1-D689-A273-86AF9211C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99" y="2293830"/>
            <a:ext cx="4876800" cy="22098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CDFA218-7264-263F-2B21-5062680C1EDE}"/>
              </a:ext>
            </a:extLst>
          </p:cNvPr>
          <p:cNvSpPr txBox="1">
            <a:spLocks/>
          </p:cNvSpPr>
          <p:nvPr/>
        </p:nvSpPr>
        <p:spPr>
          <a:xfrm>
            <a:off x="257013" y="4835471"/>
            <a:ext cx="11677973" cy="29756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8000" b="1" dirty="0">
                <a:latin typeface="Gabriola" pitchFamily="82" charset="0"/>
              </a:rPr>
              <a:t>Direct encoding:  </a:t>
            </a:r>
            <a:r>
              <a:rPr lang="en-US" sz="8000" dirty="0">
                <a:latin typeface="Gabriola" pitchFamily="82" charset="0"/>
              </a:rPr>
              <a:t>𝛩(n</a:t>
            </a:r>
            <a:r>
              <a:rPr lang="en-US" sz="8000" baseline="30000" dirty="0">
                <a:latin typeface="Gabriola" pitchFamily="82" charset="0"/>
              </a:rPr>
              <a:t>2</a:t>
            </a:r>
            <a:r>
              <a:rPr lang="en-US" sz="8000" dirty="0">
                <a:latin typeface="Gabriola" pitchFamily="82" charset="0"/>
              </a:rPr>
              <a:t>) clauses</a:t>
            </a:r>
          </a:p>
          <a:p>
            <a:pPr marL="1143000" indent="-1143000" algn="ctr">
              <a:buFontTx/>
              <a:buChar char="-"/>
            </a:pPr>
            <a:endParaRPr lang="en-US" sz="8000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5705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AF107-ABA8-CF2F-4C2C-439E6C6B5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CEA6A-D3F8-2A96-8CE5-DCB0B3425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8000" dirty="0">
                <a:latin typeface="Gabriola" pitchFamily="82" charset="0"/>
              </a:rPr>
              <a:t>At Most One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C94A99-6E79-3178-1E74-07EDCF191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061" y="1865610"/>
            <a:ext cx="8835877" cy="31267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7965C-0E2B-A4FD-6A88-91D59F606C7F}"/>
              </a:ext>
            </a:extLst>
          </p:cNvPr>
          <p:cNvSpPr txBox="1"/>
          <p:nvPr/>
        </p:nvSpPr>
        <p:spPr>
          <a:xfrm>
            <a:off x="2747445" y="4992390"/>
            <a:ext cx="74039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latin typeface="Gabriola" pitchFamily="82" charset="0"/>
              </a:rPr>
              <a:t>Sequential</a:t>
            </a:r>
            <a:r>
              <a:rPr lang="en-US" sz="7200" dirty="0">
                <a:latin typeface="Gabriola" pitchFamily="82" charset="0"/>
              </a:rPr>
              <a:t>: 3n-6  clauses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E823C9-7D13-3EFF-3C6A-7B1A714489F3}"/>
              </a:ext>
            </a:extLst>
          </p:cNvPr>
          <p:cNvSpPr txBox="1"/>
          <p:nvPr/>
        </p:nvSpPr>
        <p:spPr>
          <a:xfrm>
            <a:off x="414950" y="5292546"/>
            <a:ext cx="35956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abriola" pitchFamily="82" charset="0"/>
              </a:rPr>
              <a:t>Warners (1998)</a:t>
            </a:r>
          </a:p>
          <a:p>
            <a:r>
              <a:rPr lang="en-US" dirty="0" err="1">
                <a:latin typeface="Gabriola" pitchFamily="82" charset="0"/>
              </a:rPr>
              <a:t>Ansótegui</a:t>
            </a:r>
            <a:r>
              <a:rPr lang="en-US" dirty="0">
                <a:latin typeface="Gabriola" pitchFamily="82" charset="0"/>
              </a:rPr>
              <a:t> and </a:t>
            </a:r>
            <a:r>
              <a:rPr lang="en-US" dirty="0" err="1">
                <a:latin typeface="Gabriola" pitchFamily="82" charset="0"/>
              </a:rPr>
              <a:t>Manyà</a:t>
            </a:r>
            <a:r>
              <a:rPr lang="en-US" dirty="0">
                <a:latin typeface="Gabriola" pitchFamily="82" charset="0"/>
              </a:rPr>
              <a:t> (2004)</a:t>
            </a:r>
          </a:p>
          <a:p>
            <a:r>
              <a:rPr lang="en-US" dirty="0">
                <a:latin typeface="Gabriola" pitchFamily="82" charset="0"/>
              </a:rPr>
              <a:t>Gent and Nightingale (2004)</a:t>
            </a:r>
          </a:p>
          <a:p>
            <a:r>
              <a:rPr lang="en-US" dirty="0">
                <a:latin typeface="Gabriola" pitchFamily="82" charset="0"/>
              </a:rPr>
              <a:t>Sinz (2005)</a:t>
            </a:r>
          </a:p>
        </p:txBody>
      </p:sp>
    </p:spTree>
    <p:extLst>
      <p:ext uri="{BB962C8B-B14F-4D97-AF65-F5344CB8AC3E}">
        <p14:creationId xmlns:p14="http://schemas.microsoft.com/office/powerpoint/2010/main" val="3498099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5499DF8-0A06-67C9-6C3A-E36C2FA86708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8000" dirty="0">
                <a:latin typeface="Gabriola" pitchFamily="82" charset="0"/>
              </a:rPr>
              <a:t>At Most K</a:t>
            </a:r>
          </a:p>
        </p:txBody>
      </p:sp>
    </p:spTree>
    <p:extLst>
      <p:ext uri="{BB962C8B-B14F-4D97-AF65-F5344CB8AC3E}">
        <p14:creationId xmlns:p14="http://schemas.microsoft.com/office/powerpoint/2010/main" val="3856630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4294C-F0EE-D625-E468-161C977A2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719" y="2410902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600" dirty="0">
                <a:latin typeface="Gabriola" pitchFamily="82" charset="0"/>
              </a:rPr>
              <a:t>Grid Compression</a:t>
            </a:r>
            <a:br>
              <a:rPr lang="en-US" sz="6600" dirty="0">
                <a:latin typeface="Gabriola" pitchFamily="82" charset="0"/>
              </a:rPr>
            </a:br>
            <a:endParaRPr lang="en-US" sz="6600" dirty="0">
              <a:latin typeface="Gabriola" pitchFamily="8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EFBDDB9-6983-045F-7025-95B83362C7D6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>
                <a:latin typeface="Gabriola" pitchFamily="82" charset="0"/>
              </a:rPr>
              <a:t>Two Novel Encoding Techniques</a:t>
            </a:r>
            <a:endParaRPr lang="en-US" sz="6600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5884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3C812-1F8F-9064-7EFD-52C98D47C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262AA-44B2-34E2-5A25-0F21C4C5B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8000" dirty="0">
                <a:latin typeface="Gabriola" pitchFamily="82" charset="0"/>
              </a:rPr>
              <a:t>In practice</a:t>
            </a:r>
          </a:p>
        </p:txBody>
      </p:sp>
    </p:spTree>
    <p:extLst>
      <p:ext uri="{BB962C8B-B14F-4D97-AF65-F5344CB8AC3E}">
        <p14:creationId xmlns:p14="http://schemas.microsoft.com/office/powerpoint/2010/main" val="1988922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293367-409F-BE2C-9434-F6A3794F6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ircle Limit III by M.C. Escher">
            <a:extLst>
              <a:ext uri="{FF2B5EF4-FFF2-40B4-BE49-F238E27FC236}">
                <a16:creationId xmlns:a16="http://schemas.microsoft.com/office/drawing/2014/main" id="{B4A7DDCA-8CE4-2EF0-D793-2E85BD68777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3000"/>
          </a:blip>
          <a:srcRect t="18458" b="20566"/>
          <a:stretch>
            <a:fillRect/>
          </a:stretch>
        </p:blipFill>
        <p:spPr>
          <a:xfrm>
            <a:off x="0" y="1"/>
            <a:ext cx="12191980" cy="685799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46F64DE-A4AE-7425-A93D-874C8F338F82}"/>
              </a:ext>
            </a:extLst>
          </p:cNvPr>
          <p:cNvSpPr/>
          <p:nvPr/>
        </p:nvSpPr>
        <p:spPr>
          <a:xfrm>
            <a:off x="478476" y="1106392"/>
            <a:ext cx="11332029" cy="2558143"/>
          </a:xfrm>
          <a:custGeom>
            <a:avLst/>
            <a:gdLst>
              <a:gd name="csX0" fmla="*/ 0 w 11332029"/>
              <a:gd name="csY0" fmla="*/ 0 h 2558143"/>
              <a:gd name="csX1" fmla="*/ 823063 w 11332029"/>
              <a:gd name="csY1" fmla="*/ 0 h 2558143"/>
              <a:gd name="csX2" fmla="*/ 1532806 w 11332029"/>
              <a:gd name="csY2" fmla="*/ 0 h 2558143"/>
              <a:gd name="csX3" fmla="*/ 2355869 w 11332029"/>
              <a:gd name="csY3" fmla="*/ 0 h 2558143"/>
              <a:gd name="csX4" fmla="*/ 2952292 w 11332029"/>
              <a:gd name="csY4" fmla="*/ 0 h 2558143"/>
              <a:gd name="csX5" fmla="*/ 3662035 w 11332029"/>
              <a:gd name="csY5" fmla="*/ 0 h 2558143"/>
              <a:gd name="csX6" fmla="*/ 4258457 w 11332029"/>
              <a:gd name="csY6" fmla="*/ 0 h 2558143"/>
              <a:gd name="csX7" fmla="*/ 4854880 w 11332029"/>
              <a:gd name="csY7" fmla="*/ 0 h 2558143"/>
              <a:gd name="csX8" fmla="*/ 5451302 w 11332029"/>
              <a:gd name="csY8" fmla="*/ 0 h 2558143"/>
              <a:gd name="csX9" fmla="*/ 5707764 w 11332029"/>
              <a:gd name="csY9" fmla="*/ 0 h 2558143"/>
              <a:gd name="csX10" fmla="*/ 6417507 w 11332029"/>
              <a:gd name="csY10" fmla="*/ 0 h 2558143"/>
              <a:gd name="csX11" fmla="*/ 6673969 w 11332029"/>
              <a:gd name="csY11" fmla="*/ 0 h 2558143"/>
              <a:gd name="csX12" fmla="*/ 7270391 w 11332029"/>
              <a:gd name="csY12" fmla="*/ 0 h 2558143"/>
              <a:gd name="csX13" fmla="*/ 8093454 w 11332029"/>
              <a:gd name="csY13" fmla="*/ 0 h 2558143"/>
              <a:gd name="csX14" fmla="*/ 8916518 w 11332029"/>
              <a:gd name="csY14" fmla="*/ 0 h 2558143"/>
              <a:gd name="csX15" fmla="*/ 9626260 w 11332029"/>
              <a:gd name="csY15" fmla="*/ 0 h 2558143"/>
              <a:gd name="csX16" fmla="*/ 10109363 w 11332029"/>
              <a:gd name="csY16" fmla="*/ 0 h 2558143"/>
              <a:gd name="csX17" fmla="*/ 10365824 w 11332029"/>
              <a:gd name="csY17" fmla="*/ 0 h 2558143"/>
              <a:gd name="csX18" fmla="*/ 11332029 w 11332029"/>
              <a:gd name="csY18" fmla="*/ 0 h 2558143"/>
              <a:gd name="csX19" fmla="*/ 11332029 w 11332029"/>
              <a:gd name="csY19" fmla="*/ 537210 h 2558143"/>
              <a:gd name="csX20" fmla="*/ 11332029 w 11332029"/>
              <a:gd name="csY20" fmla="*/ 1023257 h 2558143"/>
              <a:gd name="csX21" fmla="*/ 11332029 w 11332029"/>
              <a:gd name="csY21" fmla="*/ 1586049 h 2558143"/>
              <a:gd name="csX22" fmla="*/ 11332029 w 11332029"/>
              <a:gd name="csY22" fmla="*/ 2046514 h 2558143"/>
              <a:gd name="csX23" fmla="*/ 11332029 w 11332029"/>
              <a:gd name="csY23" fmla="*/ 2558143 h 2558143"/>
              <a:gd name="csX24" fmla="*/ 10962247 w 11332029"/>
              <a:gd name="csY24" fmla="*/ 2558143 h 2558143"/>
              <a:gd name="csX25" fmla="*/ 10705785 w 11332029"/>
              <a:gd name="csY25" fmla="*/ 2558143 h 2558143"/>
              <a:gd name="csX26" fmla="*/ 9882722 w 11332029"/>
              <a:gd name="csY26" fmla="*/ 2558143 h 2558143"/>
              <a:gd name="csX27" fmla="*/ 9399620 w 11332029"/>
              <a:gd name="csY27" fmla="*/ 2558143 h 2558143"/>
              <a:gd name="csX28" fmla="*/ 8689877 w 11332029"/>
              <a:gd name="csY28" fmla="*/ 2558143 h 2558143"/>
              <a:gd name="csX29" fmla="*/ 8433415 w 11332029"/>
              <a:gd name="csY29" fmla="*/ 2558143 h 2558143"/>
              <a:gd name="csX30" fmla="*/ 7610352 w 11332029"/>
              <a:gd name="csY30" fmla="*/ 2558143 h 2558143"/>
              <a:gd name="csX31" fmla="*/ 7127250 w 11332029"/>
              <a:gd name="csY31" fmla="*/ 2558143 h 2558143"/>
              <a:gd name="csX32" fmla="*/ 6530827 w 11332029"/>
              <a:gd name="csY32" fmla="*/ 2558143 h 2558143"/>
              <a:gd name="csX33" fmla="*/ 6161045 w 11332029"/>
              <a:gd name="csY33" fmla="*/ 2558143 h 2558143"/>
              <a:gd name="csX34" fmla="*/ 5451302 w 11332029"/>
              <a:gd name="csY34" fmla="*/ 2558143 h 2558143"/>
              <a:gd name="csX35" fmla="*/ 4628239 w 11332029"/>
              <a:gd name="csY35" fmla="*/ 2558143 h 2558143"/>
              <a:gd name="csX36" fmla="*/ 4145137 w 11332029"/>
              <a:gd name="csY36" fmla="*/ 2558143 h 2558143"/>
              <a:gd name="csX37" fmla="*/ 3322074 w 11332029"/>
              <a:gd name="csY37" fmla="*/ 2558143 h 2558143"/>
              <a:gd name="csX38" fmla="*/ 2725651 w 11332029"/>
              <a:gd name="csY38" fmla="*/ 2558143 h 2558143"/>
              <a:gd name="csX39" fmla="*/ 1902588 w 11332029"/>
              <a:gd name="csY39" fmla="*/ 2558143 h 2558143"/>
              <a:gd name="csX40" fmla="*/ 1079525 w 11332029"/>
              <a:gd name="csY40" fmla="*/ 2558143 h 2558143"/>
              <a:gd name="csX41" fmla="*/ 709743 w 11332029"/>
              <a:gd name="csY41" fmla="*/ 2558143 h 2558143"/>
              <a:gd name="csX42" fmla="*/ 0 w 11332029"/>
              <a:gd name="csY42" fmla="*/ 2558143 h 2558143"/>
              <a:gd name="csX43" fmla="*/ 0 w 11332029"/>
              <a:gd name="csY43" fmla="*/ 2046514 h 2558143"/>
              <a:gd name="csX44" fmla="*/ 0 w 11332029"/>
              <a:gd name="csY44" fmla="*/ 1483723 h 2558143"/>
              <a:gd name="csX45" fmla="*/ 0 w 11332029"/>
              <a:gd name="csY45" fmla="*/ 1048839 h 2558143"/>
              <a:gd name="csX46" fmla="*/ 0 w 11332029"/>
              <a:gd name="csY46" fmla="*/ 613954 h 2558143"/>
              <a:gd name="csX47" fmla="*/ 0 w 11332029"/>
              <a:gd name="csY47" fmla="*/ 0 h 25581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</a:cxnLst>
            <a:rect l="l" t="t" r="r" b="b"/>
            <a:pathLst>
              <a:path w="11332029" h="2558143" fill="none" extrusionOk="0">
                <a:moveTo>
                  <a:pt x="0" y="0"/>
                </a:moveTo>
                <a:cubicBezTo>
                  <a:pt x="182583" y="-91799"/>
                  <a:pt x="462719" y="75828"/>
                  <a:pt x="823063" y="0"/>
                </a:cubicBezTo>
                <a:cubicBezTo>
                  <a:pt x="1183407" y="-75828"/>
                  <a:pt x="1317569" y="65063"/>
                  <a:pt x="1532806" y="0"/>
                </a:cubicBezTo>
                <a:cubicBezTo>
                  <a:pt x="1748043" y="-65063"/>
                  <a:pt x="1960156" y="29868"/>
                  <a:pt x="2355869" y="0"/>
                </a:cubicBezTo>
                <a:cubicBezTo>
                  <a:pt x="2751582" y="-29868"/>
                  <a:pt x="2701370" y="6882"/>
                  <a:pt x="2952292" y="0"/>
                </a:cubicBezTo>
                <a:cubicBezTo>
                  <a:pt x="3203214" y="-6882"/>
                  <a:pt x="3396504" y="33271"/>
                  <a:pt x="3662035" y="0"/>
                </a:cubicBezTo>
                <a:cubicBezTo>
                  <a:pt x="3927566" y="-33271"/>
                  <a:pt x="4128336" y="44967"/>
                  <a:pt x="4258457" y="0"/>
                </a:cubicBezTo>
                <a:cubicBezTo>
                  <a:pt x="4388578" y="-44967"/>
                  <a:pt x="4716981" y="26735"/>
                  <a:pt x="4854880" y="0"/>
                </a:cubicBezTo>
                <a:cubicBezTo>
                  <a:pt x="4992779" y="-26735"/>
                  <a:pt x="5279990" y="35712"/>
                  <a:pt x="5451302" y="0"/>
                </a:cubicBezTo>
                <a:cubicBezTo>
                  <a:pt x="5622614" y="-35712"/>
                  <a:pt x="5636684" y="3945"/>
                  <a:pt x="5707764" y="0"/>
                </a:cubicBezTo>
                <a:cubicBezTo>
                  <a:pt x="5778844" y="-3945"/>
                  <a:pt x="6161282" y="7645"/>
                  <a:pt x="6417507" y="0"/>
                </a:cubicBezTo>
                <a:cubicBezTo>
                  <a:pt x="6673732" y="-7645"/>
                  <a:pt x="6552202" y="29946"/>
                  <a:pt x="6673969" y="0"/>
                </a:cubicBezTo>
                <a:cubicBezTo>
                  <a:pt x="6795736" y="-29946"/>
                  <a:pt x="7136498" y="31688"/>
                  <a:pt x="7270391" y="0"/>
                </a:cubicBezTo>
                <a:cubicBezTo>
                  <a:pt x="7404284" y="-31688"/>
                  <a:pt x="7908413" y="87830"/>
                  <a:pt x="8093454" y="0"/>
                </a:cubicBezTo>
                <a:cubicBezTo>
                  <a:pt x="8278495" y="-87830"/>
                  <a:pt x="8731162" y="92914"/>
                  <a:pt x="8916518" y="0"/>
                </a:cubicBezTo>
                <a:cubicBezTo>
                  <a:pt x="9101874" y="-92914"/>
                  <a:pt x="9376694" y="71185"/>
                  <a:pt x="9626260" y="0"/>
                </a:cubicBezTo>
                <a:cubicBezTo>
                  <a:pt x="9875826" y="-71185"/>
                  <a:pt x="9965148" y="10606"/>
                  <a:pt x="10109363" y="0"/>
                </a:cubicBezTo>
                <a:cubicBezTo>
                  <a:pt x="10253578" y="-10606"/>
                  <a:pt x="10263202" y="16832"/>
                  <a:pt x="10365824" y="0"/>
                </a:cubicBezTo>
                <a:cubicBezTo>
                  <a:pt x="10468446" y="-16832"/>
                  <a:pt x="10918817" y="43112"/>
                  <a:pt x="11332029" y="0"/>
                </a:cubicBezTo>
                <a:cubicBezTo>
                  <a:pt x="11352781" y="110869"/>
                  <a:pt x="11321510" y="280240"/>
                  <a:pt x="11332029" y="537210"/>
                </a:cubicBezTo>
                <a:cubicBezTo>
                  <a:pt x="11342548" y="794180"/>
                  <a:pt x="11316064" y="881725"/>
                  <a:pt x="11332029" y="1023257"/>
                </a:cubicBezTo>
                <a:cubicBezTo>
                  <a:pt x="11347994" y="1164789"/>
                  <a:pt x="11285258" y="1323884"/>
                  <a:pt x="11332029" y="1586049"/>
                </a:cubicBezTo>
                <a:cubicBezTo>
                  <a:pt x="11378800" y="1848214"/>
                  <a:pt x="11315194" y="1869258"/>
                  <a:pt x="11332029" y="2046514"/>
                </a:cubicBezTo>
                <a:cubicBezTo>
                  <a:pt x="11348864" y="2223771"/>
                  <a:pt x="11273215" y="2381382"/>
                  <a:pt x="11332029" y="2558143"/>
                </a:cubicBezTo>
                <a:cubicBezTo>
                  <a:pt x="11180306" y="2558371"/>
                  <a:pt x="11072384" y="2552368"/>
                  <a:pt x="10962247" y="2558143"/>
                </a:cubicBezTo>
                <a:cubicBezTo>
                  <a:pt x="10852110" y="2563918"/>
                  <a:pt x="10770278" y="2546020"/>
                  <a:pt x="10705785" y="2558143"/>
                </a:cubicBezTo>
                <a:cubicBezTo>
                  <a:pt x="10641292" y="2570266"/>
                  <a:pt x="10183157" y="2482499"/>
                  <a:pt x="9882722" y="2558143"/>
                </a:cubicBezTo>
                <a:cubicBezTo>
                  <a:pt x="9582287" y="2633787"/>
                  <a:pt x="9579554" y="2544720"/>
                  <a:pt x="9399620" y="2558143"/>
                </a:cubicBezTo>
                <a:cubicBezTo>
                  <a:pt x="9219686" y="2571566"/>
                  <a:pt x="8877797" y="2518817"/>
                  <a:pt x="8689877" y="2558143"/>
                </a:cubicBezTo>
                <a:cubicBezTo>
                  <a:pt x="8501957" y="2597469"/>
                  <a:pt x="8490130" y="2553123"/>
                  <a:pt x="8433415" y="2558143"/>
                </a:cubicBezTo>
                <a:cubicBezTo>
                  <a:pt x="8376700" y="2563163"/>
                  <a:pt x="8019769" y="2535817"/>
                  <a:pt x="7610352" y="2558143"/>
                </a:cubicBezTo>
                <a:cubicBezTo>
                  <a:pt x="7200935" y="2580469"/>
                  <a:pt x="7251362" y="2508651"/>
                  <a:pt x="7127250" y="2558143"/>
                </a:cubicBezTo>
                <a:cubicBezTo>
                  <a:pt x="7003138" y="2607635"/>
                  <a:pt x="6708190" y="2500051"/>
                  <a:pt x="6530827" y="2558143"/>
                </a:cubicBezTo>
                <a:cubicBezTo>
                  <a:pt x="6353464" y="2616235"/>
                  <a:pt x="6311756" y="2517035"/>
                  <a:pt x="6161045" y="2558143"/>
                </a:cubicBezTo>
                <a:cubicBezTo>
                  <a:pt x="6010334" y="2599251"/>
                  <a:pt x="5675817" y="2551631"/>
                  <a:pt x="5451302" y="2558143"/>
                </a:cubicBezTo>
                <a:cubicBezTo>
                  <a:pt x="5226787" y="2564655"/>
                  <a:pt x="4830520" y="2512635"/>
                  <a:pt x="4628239" y="2558143"/>
                </a:cubicBezTo>
                <a:cubicBezTo>
                  <a:pt x="4425958" y="2603651"/>
                  <a:pt x="4292003" y="2516461"/>
                  <a:pt x="4145137" y="2558143"/>
                </a:cubicBezTo>
                <a:cubicBezTo>
                  <a:pt x="3998271" y="2599825"/>
                  <a:pt x="3592378" y="2523926"/>
                  <a:pt x="3322074" y="2558143"/>
                </a:cubicBezTo>
                <a:cubicBezTo>
                  <a:pt x="3051770" y="2592360"/>
                  <a:pt x="2991225" y="2491536"/>
                  <a:pt x="2725651" y="2558143"/>
                </a:cubicBezTo>
                <a:cubicBezTo>
                  <a:pt x="2460077" y="2624750"/>
                  <a:pt x="2093628" y="2468113"/>
                  <a:pt x="1902588" y="2558143"/>
                </a:cubicBezTo>
                <a:cubicBezTo>
                  <a:pt x="1711548" y="2648173"/>
                  <a:pt x="1269271" y="2534472"/>
                  <a:pt x="1079525" y="2558143"/>
                </a:cubicBezTo>
                <a:cubicBezTo>
                  <a:pt x="889779" y="2581814"/>
                  <a:pt x="878940" y="2530636"/>
                  <a:pt x="709743" y="2558143"/>
                </a:cubicBezTo>
                <a:cubicBezTo>
                  <a:pt x="540546" y="2585650"/>
                  <a:pt x="240263" y="2508587"/>
                  <a:pt x="0" y="2558143"/>
                </a:cubicBezTo>
                <a:cubicBezTo>
                  <a:pt x="-14201" y="2350198"/>
                  <a:pt x="49662" y="2258248"/>
                  <a:pt x="0" y="2046514"/>
                </a:cubicBezTo>
                <a:cubicBezTo>
                  <a:pt x="-49662" y="1834780"/>
                  <a:pt x="67258" y="1764011"/>
                  <a:pt x="0" y="1483723"/>
                </a:cubicBezTo>
                <a:cubicBezTo>
                  <a:pt x="-67258" y="1203435"/>
                  <a:pt x="45171" y="1250357"/>
                  <a:pt x="0" y="1048839"/>
                </a:cubicBezTo>
                <a:cubicBezTo>
                  <a:pt x="-45171" y="847321"/>
                  <a:pt x="50934" y="708637"/>
                  <a:pt x="0" y="613954"/>
                </a:cubicBezTo>
                <a:cubicBezTo>
                  <a:pt x="-50934" y="519272"/>
                  <a:pt x="23050" y="126984"/>
                  <a:pt x="0" y="0"/>
                </a:cubicBezTo>
                <a:close/>
              </a:path>
              <a:path w="11332029" h="2558143" stroke="0" extrusionOk="0">
                <a:moveTo>
                  <a:pt x="0" y="0"/>
                </a:moveTo>
                <a:cubicBezTo>
                  <a:pt x="129121" y="-2655"/>
                  <a:pt x="281317" y="34523"/>
                  <a:pt x="483102" y="0"/>
                </a:cubicBezTo>
                <a:cubicBezTo>
                  <a:pt x="684887" y="-34523"/>
                  <a:pt x="633637" y="1801"/>
                  <a:pt x="739564" y="0"/>
                </a:cubicBezTo>
                <a:cubicBezTo>
                  <a:pt x="845491" y="-1801"/>
                  <a:pt x="1210035" y="23081"/>
                  <a:pt x="1562627" y="0"/>
                </a:cubicBezTo>
                <a:cubicBezTo>
                  <a:pt x="1915219" y="-23081"/>
                  <a:pt x="1939681" y="22921"/>
                  <a:pt x="2045729" y="0"/>
                </a:cubicBezTo>
                <a:cubicBezTo>
                  <a:pt x="2151777" y="-22921"/>
                  <a:pt x="2329701" y="10556"/>
                  <a:pt x="2528832" y="0"/>
                </a:cubicBezTo>
                <a:cubicBezTo>
                  <a:pt x="2727963" y="-10556"/>
                  <a:pt x="3078432" y="84713"/>
                  <a:pt x="3351895" y="0"/>
                </a:cubicBezTo>
                <a:cubicBezTo>
                  <a:pt x="3625358" y="-84713"/>
                  <a:pt x="3626677" y="37672"/>
                  <a:pt x="3721677" y="0"/>
                </a:cubicBezTo>
                <a:cubicBezTo>
                  <a:pt x="3816677" y="-37672"/>
                  <a:pt x="4362165" y="42861"/>
                  <a:pt x="4544740" y="0"/>
                </a:cubicBezTo>
                <a:cubicBezTo>
                  <a:pt x="4727315" y="-42861"/>
                  <a:pt x="5159509" y="90600"/>
                  <a:pt x="5367803" y="0"/>
                </a:cubicBezTo>
                <a:cubicBezTo>
                  <a:pt x="5576097" y="-90600"/>
                  <a:pt x="5733363" y="67062"/>
                  <a:pt x="5964226" y="0"/>
                </a:cubicBezTo>
                <a:cubicBezTo>
                  <a:pt x="6195089" y="-67062"/>
                  <a:pt x="6529681" y="81751"/>
                  <a:pt x="6787289" y="0"/>
                </a:cubicBezTo>
                <a:cubicBezTo>
                  <a:pt x="7044897" y="-81751"/>
                  <a:pt x="7126603" y="16864"/>
                  <a:pt x="7270391" y="0"/>
                </a:cubicBezTo>
                <a:cubicBezTo>
                  <a:pt x="7414179" y="-16864"/>
                  <a:pt x="7640906" y="44929"/>
                  <a:pt x="7753494" y="0"/>
                </a:cubicBezTo>
                <a:cubicBezTo>
                  <a:pt x="7866082" y="-44929"/>
                  <a:pt x="8138328" y="27124"/>
                  <a:pt x="8463236" y="0"/>
                </a:cubicBezTo>
                <a:cubicBezTo>
                  <a:pt x="8788144" y="-27124"/>
                  <a:pt x="8826711" y="47225"/>
                  <a:pt x="8946339" y="0"/>
                </a:cubicBezTo>
                <a:cubicBezTo>
                  <a:pt x="9065967" y="-47225"/>
                  <a:pt x="9415714" y="71162"/>
                  <a:pt x="9769402" y="0"/>
                </a:cubicBezTo>
                <a:cubicBezTo>
                  <a:pt x="10123090" y="-71162"/>
                  <a:pt x="10349253" y="31449"/>
                  <a:pt x="10592465" y="0"/>
                </a:cubicBezTo>
                <a:cubicBezTo>
                  <a:pt x="10835677" y="-31449"/>
                  <a:pt x="11154801" y="85266"/>
                  <a:pt x="11332029" y="0"/>
                </a:cubicBezTo>
                <a:cubicBezTo>
                  <a:pt x="11339884" y="161079"/>
                  <a:pt x="11324689" y="386755"/>
                  <a:pt x="11332029" y="486047"/>
                </a:cubicBezTo>
                <a:cubicBezTo>
                  <a:pt x="11339369" y="585339"/>
                  <a:pt x="11309669" y="723604"/>
                  <a:pt x="11332029" y="920931"/>
                </a:cubicBezTo>
                <a:cubicBezTo>
                  <a:pt x="11354389" y="1118258"/>
                  <a:pt x="11318963" y="1277173"/>
                  <a:pt x="11332029" y="1381397"/>
                </a:cubicBezTo>
                <a:cubicBezTo>
                  <a:pt x="11345095" y="1485621"/>
                  <a:pt x="11283233" y="1800434"/>
                  <a:pt x="11332029" y="1918607"/>
                </a:cubicBezTo>
                <a:cubicBezTo>
                  <a:pt x="11380825" y="2036780"/>
                  <a:pt x="11282133" y="2395154"/>
                  <a:pt x="11332029" y="2558143"/>
                </a:cubicBezTo>
                <a:cubicBezTo>
                  <a:pt x="11254472" y="2576225"/>
                  <a:pt x="11059170" y="2524509"/>
                  <a:pt x="10962247" y="2558143"/>
                </a:cubicBezTo>
                <a:cubicBezTo>
                  <a:pt x="10865324" y="2591777"/>
                  <a:pt x="10791161" y="2552726"/>
                  <a:pt x="10705785" y="2558143"/>
                </a:cubicBezTo>
                <a:cubicBezTo>
                  <a:pt x="10620409" y="2563560"/>
                  <a:pt x="10518466" y="2556627"/>
                  <a:pt x="10449324" y="2558143"/>
                </a:cubicBezTo>
                <a:cubicBezTo>
                  <a:pt x="10380182" y="2559659"/>
                  <a:pt x="10007864" y="2487502"/>
                  <a:pt x="9852901" y="2558143"/>
                </a:cubicBezTo>
                <a:cubicBezTo>
                  <a:pt x="9697938" y="2628784"/>
                  <a:pt x="9631027" y="2536217"/>
                  <a:pt x="9483119" y="2558143"/>
                </a:cubicBezTo>
                <a:cubicBezTo>
                  <a:pt x="9335211" y="2580069"/>
                  <a:pt x="8970820" y="2484003"/>
                  <a:pt x="8773376" y="2558143"/>
                </a:cubicBezTo>
                <a:cubicBezTo>
                  <a:pt x="8575932" y="2632283"/>
                  <a:pt x="8561205" y="2544972"/>
                  <a:pt x="8403594" y="2558143"/>
                </a:cubicBezTo>
                <a:cubicBezTo>
                  <a:pt x="8245983" y="2571314"/>
                  <a:pt x="8042415" y="2547469"/>
                  <a:pt x="7693851" y="2558143"/>
                </a:cubicBezTo>
                <a:cubicBezTo>
                  <a:pt x="7345287" y="2568817"/>
                  <a:pt x="7533357" y="2555319"/>
                  <a:pt x="7437390" y="2558143"/>
                </a:cubicBezTo>
                <a:cubicBezTo>
                  <a:pt x="7341423" y="2560967"/>
                  <a:pt x="6874748" y="2507754"/>
                  <a:pt x="6727647" y="2558143"/>
                </a:cubicBezTo>
                <a:cubicBezTo>
                  <a:pt x="6580546" y="2608532"/>
                  <a:pt x="6477588" y="2519980"/>
                  <a:pt x="6357865" y="2558143"/>
                </a:cubicBezTo>
                <a:cubicBezTo>
                  <a:pt x="6238142" y="2596306"/>
                  <a:pt x="6200205" y="2537118"/>
                  <a:pt x="6101403" y="2558143"/>
                </a:cubicBezTo>
                <a:cubicBezTo>
                  <a:pt x="6002601" y="2579168"/>
                  <a:pt x="5807630" y="2556735"/>
                  <a:pt x="5731621" y="2558143"/>
                </a:cubicBezTo>
                <a:cubicBezTo>
                  <a:pt x="5655612" y="2559551"/>
                  <a:pt x="5233705" y="2534919"/>
                  <a:pt x="5021878" y="2558143"/>
                </a:cubicBezTo>
                <a:cubicBezTo>
                  <a:pt x="4810051" y="2581367"/>
                  <a:pt x="4772427" y="2540778"/>
                  <a:pt x="4652096" y="2558143"/>
                </a:cubicBezTo>
                <a:cubicBezTo>
                  <a:pt x="4531765" y="2575508"/>
                  <a:pt x="4462519" y="2546836"/>
                  <a:pt x="4395634" y="2558143"/>
                </a:cubicBezTo>
                <a:cubicBezTo>
                  <a:pt x="4328749" y="2569450"/>
                  <a:pt x="4149905" y="2523993"/>
                  <a:pt x="4025852" y="2558143"/>
                </a:cubicBezTo>
                <a:cubicBezTo>
                  <a:pt x="3901799" y="2592293"/>
                  <a:pt x="3773402" y="2530983"/>
                  <a:pt x="3542750" y="2558143"/>
                </a:cubicBezTo>
                <a:cubicBezTo>
                  <a:pt x="3312098" y="2585303"/>
                  <a:pt x="3141801" y="2529145"/>
                  <a:pt x="2946328" y="2558143"/>
                </a:cubicBezTo>
                <a:cubicBezTo>
                  <a:pt x="2750855" y="2587141"/>
                  <a:pt x="2694180" y="2521544"/>
                  <a:pt x="2576546" y="2558143"/>
                </a:cubicBezTo>
                <a:cubicBezTo>
                  <a:pt x="2458912" y="2594742"/>
                  <a:pt x="2022467" y="2521520"/>
                  <a:pt x="1753482" y="2558143"/>
                </a:cubicBezTo>
                <a:cubicBezTo>
                  <a:pt x="1484497" y="2594766"/>
                  <a:pt x="1357976" y="2514141"/>
                  <a:pt x="1157060" y="2558143"/>
                </a:cubicBezTo>
                <a:cubicBezTo>
                  <a:pt x="956144" y="2602145"/>
                  <a:pt x="320795" y="2502594"/>
                  <a:pt x="0" y="2558143"/>
                </a:cubicBezTo>
                <a:cubicBezTo>
                  <a:pt x="-37582" y="2411680"/>
                  <a:pt x="35647" y="2206580"/>
                  <a:pt x="0" y="2020933"/>
                </a:cubicBezTo>
                <a:cubicBezTo>
                  <a:pt x="-35647" y="1835286"/>
                  <a:pt x="12095" y="1631591"/>
                  <a:pt x="0" y="1509304"/>
                </a:cubicBezTo>
                <a:cubicBezTo>
                  <a:pt x="-12095" y="1387017"/>
                  <a:pt x="9121" y="1128372"/>
                  <a:pt x="0" y="1023257"/>
                </a:cubicBezTo>
                <a:cubicBezTo>
                  <a:pt x="-9121" y="918142"/>
                  <a:pt x="28743" y="661405"/>
                  <a:pt x="0" y="486047"/>
                </a:cubicBezTo>
                <a:cubicBezTo>
                  <a:pt x="-28743" y="310689"/>
                  <a:pt x="1358" y="108521"/>
                  <a:pt x="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75900"/>
            </a:schemeClr>
          </a:solidFill>
          <a:ln w="38100"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78A427-D1E0-C672-48BC-131CE635C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4661" y="689331"/>
            <a:ext cx="10319658" cy="2900518"/>
          </a:xfrm>
        </p:spPr>
        <p:txBody>
          <a:bodyPr>
            <a:norm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Gabriola" pitchFamily="82" charset="0"/>
              </a:rPr>
              <a:t>Near-Optimal Encodings of Cardinality Constraints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FB0FD6-46D4-2D8A-8039-7587A5F50BA9}"/>
              </a:ext>
            </a:extLst>
          </p:cNvPr>
          <p:cNvSpPr/>
          <p:nvPr/>
        </p:nvSpPr>
        <p:spPr>
          <a:xfrm>
            <a:off x="-152400" y="4856960"/>
            <a:ext cx="12593782" cy="2220756"/>
          </a:xfrm>
          <a:prstGeom prst="rect">
            <a:avLst/>
          </a:prstGeom>
          <a:solidFill>
            <a:schemeClr val="tx2">
              <a:alpha val="5962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7AD7C5-0154-0308-7B03-4644B7C74E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9715" y="4856960"/>
            <a:ext cx="10940140" cy="2220756"/>
          </a:xfrm>
        </p:spPr>
        <p:txBody>
          <a:bodyPr>
            <a:norm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Gabriola" pitchFamily="82" charset="0"/>
              </a:rPr>
              <a:t>Bernardo Subercaseaux (</a:t>
            </a:r>
            <a:r>
              <a:rPr lang="en-US" sz="6000" dirty="0" err="1">
                <a:solidFill>
                  <a:schemeClr val="bg2">
                    <a:lumMod val="75000"/>
                    <a:lumOff val="25000"/>
                  </a:schemeClr>
                </a:solidFill>
                <a:latin typeface="Gabriola" pitchFamily="82" charset="0"/>
              </a:rPr>
              <a:t>bersub@cmu.edu</a:t>
            </a:r>
            <a:r>
              <a:rPr lang="en-US" sz="6000" dirty="0">
                <a:solidFill>
                  <a:schemeClr val="bg1"/>
                </a:solidFill>
                <a:latin typeface="Gabriola" pitchFamily="82" charset="0"/>
              </a:rPr>
              <a:t>)</a:t>
            </a:r>
            <a:endParaRPr lang="en-US" sz="2800" dirty="0">
              <a:solidFill>
                <a:schemeClr val="bg1"/>
              </a:solidFill>
              <a:latin typeface="Gabriola" pitchFamily="82" charset="0"/>
            </a:endParaRPr>
          </a:p>
          <a:p>
            <a:r>
              <a:rPr lang="en-US" sz="3600" dirty="0">
                <a:solidFill>
                  <a:schemeClr val="bg1"/>
                </a:solidFill>
                <a:latin typeface="Gabriola" pitchFamily="82" charset="0"/>
              </a:rPr>
              <a:t>Joint work with Andrew Krapivin and Benjamin Przybocki</a:t>
            </a:r>
          </a:p>
        </p:txBody>
      </p:sp>
    </p:spTree>
    <p:extLst>
      <p:ext uri="{BB962C8B-B14F-4D97-AF65-F5344CB8AC3E}">
        <p14:creationId xmlns:p14="http://schemas.microsoft.com/office/powerpoint/2010/main" val="41776597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7508</TotalTime>
  <Words>256</Words>
  <Application>Microsoft Macintosh PowerPoint</Application>
  <PresentationFormat>Widescreen</PresentationFormat>
  <Paragraphs>44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Gabriola</vt:lpstr>
      <vt:lpstr>Office Theme</vt:lpstr>
      <vt:lpstr>Near-Optimal Encodings of Cardinality Constraints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Considered Factors</vt:lpstr>
      <vt:lpstr>At Most One</vt:lpstr>
      <vt:lpstr>At Most One</vt:lpstr>
      <vt:lpstr>PowerPoint Presentation</vt:lpstr>
      <vt:lpstr>Grid Compression </vt:lpstr>
      <vt:lpstr>In practice</vt:lpstr>
      <vt:lpstr>Near-Optimal Encodings of Cardinality Constraints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Bernardo Anibal Subercaseaux Roa</dc:creator>
  <cp:lastModifiedBy>Bernardo Anibal Subercaseaux Roa</cp:lastModifiedBy>
  <cp:revision>3</cp:revision>
  <dcterms:created xsi:type="dcterms:W3CDTF">2026-07-04T01:50:31Z</dcterms:created>
  <dcterms:modified xsi:type="dcterms:W3CDTF">2026-07-19T10:53:57Z</dcterms:modified>
</cp:coreProperties>
</file>